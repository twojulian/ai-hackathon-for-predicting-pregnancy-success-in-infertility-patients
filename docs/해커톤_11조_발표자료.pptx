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51435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g6Apm5AtNFBfj++dDEyjTKjav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안녕하세요, 난임 환자 대상 임신 성공 여부 예측에 대해 발표 하게 된 11조  윤지현, 조여진 발표자 설윤재입니다.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목차입니다. 데이터 탐색, 전처리, 모델링, 평가지표 순으로 발표하겠습니다.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69c578ed5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e69c578ed5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 탐색입니다.</a:t>
            </a:r>
            <a:endParaRPr/>
          </a:p>
        </p:txBody>
      </p:sp>
      <p:sp>
        <p:nvSpPr>
          <p:cNvPr id="70" name="Google Shape;70;g3e69c578ed5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69c578ed5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e69c578ed5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학습에 사용한 데이터는 환자 256,351명의 기록이고, 피처수는 67개였습니다.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수치형 변수와 범주형 변수가 혼재해 있었고, 일부 항목은 결측치가 존재하였습니다.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변수는 크게 4가지 그룹으로 배아 관련 수치 변수, 시술 경과일 변수, 환자 특성 변수, 시술 유형으로 나뉘었습니다.</a:t>
            </a:r>
            <a:endParaRPr/>
          </a:p>
        </p:txBody>
      </p:sp>
      <p:sp>
        <p:nvSpPr>
          <p:cNvPr id="86" name="Google Shape;86;g3e69c578ed5_1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타겟 변수는 임신 성공 여부입니다.  타겟 데이터 분포는 2.87:1로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임신 성공 데이터가 훨씬 적은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불균형한 데이터였습니다.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이를 해결하기 위해 LightGBM은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is_unbalance=True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CatBoost는 Balanced Weights, XGBoost는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scale_pos_weight=2.87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을 설정해 각 모델에 맞는 방식으로 대응했습니다.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결측치 입니다. 컬럼 특성에 따라  세가지 방법으로 처리하였습니다.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전체 행이 동일한 값을 가지는 컬럼은 제거하여 노이즈를 방지하였고,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비결측값이 모두 '1'인 착상 전 유전 검사 사용 여부, PGD/PGS 시술 여부는 고비용 선택 검사라는 의학적 맥락을 고려하여, 결측을 단순 누락이 아닌 '0(미시행)'으로 재코딩했습니다.</a:t>
            </a:r>
            <a:br>
              <a:rPr lang="en-US"/>
            </a:br>
            <a:r>
              <a:rPr lang="en-US"/>
              <a:t>데이터 누락 자체가 지니는 정보를 손실 없이 학습시키기 위해 결측 여부를 0과 1의 플래그 변수로 파생하여 추가했습니다.</a:t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69c578ed5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69c578ed5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주요 변수별 분포 분석 결과입니다. 나이를 보면 만 18~34세의 성공률이 가장 높고, 나이가 증가할수록 성공률이 감소하는 경향이 뚜렷했습니다. 시술 유형별로는 IVF가 DI에 비해 약 2배 높은 성공률을 보였습니다.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시술 횟수와 성공률의 관계에서는 횟수가 늘수록 성공률이 감소하는 경향이 있었는데, 여기서 0회는 현재 시술 이전 누적 횟수가 0인 경우, 즉 생애 첫 시술 케이스를 의미합니다. 다만 총 시술 횟수 외에 IVF 나 DI 횟수가 별도 집계되기 때문에, IVF 첫 시도라도 이전 DI 이력이 있는 환자가 혼재할 수 있습니다. 이런 점을 고려해 횟수 증가에 따른 성공률 감소는 반복 실패 환자 누적에 의한 선택 편향으로 해석했으며, 시술 횟수 단독보다 나이 나 불임 원인과의 상호작용 피처로 활용하는 방향을 택했습니다.</a:t>
            </a:r>
            <a:endParaRPr/>
          </a:p>
        </p:txBody>
      </p:sp>
      <p:sp>
        <p:nvSpPr>
          <p:cNvPr id="204" name="Google Shape;204;g3e69c578ed5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히트맵입니다. 배아 관련 변수들 사이에서 높은 상관관계가 눈에 띄었습니다.</a:t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69c578ed5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69c578ed5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상관관계 분석의 핵심 발견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임신 성공과 양의 상관을 가진 주요 변수로는 이식된 배아수 , 배아이식 경과일, 총 생성 배아 수 등이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반면 임신 시도 경과 연수, 동결 배아 사용 여부는 음의 상관을 보였습니다.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또한 배아 변수들 사이에서 다중공선성이 확인 되었습니다.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총 생성 배아 수와 혼합 난자의 수는 0.89, ICDI 관련 변수들은 0.94 , 동결 배아와 신선배아는 -1.0 의 완전 역상관을 보였습니다.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이에 따라 피처 선택이나 PCA 적용을 고려했습니다.</a:t>
            </a:r>
            <a:endParaRPr/>
          </a:p>
        </p:txBody>
      </p:sp>
      <p:sp>
        <p:nvSpPr>
          <p:cNvPr id="232" name="Google Shape;232;g3e69c578ed5_0_2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69c578ed5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69c578ed5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 </a:t>
            </a:r>
            <a:r>
              <a:rPr lang="en-US"/>
              <a:t>를 통한 인사이드입니다.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첫째, 클래스 불균형으로 스트래티파이드 케이-폴드 등의 불균형 대응 전략이 필수 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둘째, 고결측 컬럼이 다수 존재하여 결측 패턴 자체가 2~39% 의 성공률 차이를 만들어냈습니다.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셋째, 나이는 핵심 피처로 만18세 부터 34세 에서 만 45 부터 50세로 갈수록 성공률이 32% 에서 4% 까지 급감했습니다.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넷째, 배아 수치 변수군이 임신 성공과 가장 높은 상관을 보이나 다중공선성에 주의가 필요했습니다.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다섯째, DI 와 IVF 의 구조적 차이로 시술 유형별 결측 플래그가 핵심 파생 피처가 되었습니다.</a:t>
            </a:r>
            <a:endParaRPr/>
          </a:p>
        </p:txBody>
      </p:sp>
      <p:sp>
        <p:nvSpPr>
          <p:cNvPr id="293" name="Google Shape;293;g3e69c578ed5_0_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 전처리 입니다.</a:t>
            </a:r>
            <a:endParaRPr/>
          </a:p>
        </p:txBody>
      </p:sp>
      <p:sp>
        <p:nvSpPr>
          <p:cNvPr id="333" name="Google Shape;3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LGB</a:t>
            </a:r>
            <a:r>
              <a:rPr lang="en-US"/>
              <a:t>는 라벨 인코딩으로 정수 인코딩하였고,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캣부스트는 타겟 인코딩으로 각 항목의 임신 성공률을 평균값으로 변환했습니다.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XG부스트는 인터랙션 타겟 인코딩으로 두 범주형 변수를 조합해서 성공률을 계산하였습니다. </a:t>
            </a:r>
            <a:br>
              <a:rPr lang="en-US"/>
            </a:br>
            <a:r>
              <a:rPr lang="en-US"/>
              <a:t>이로써 최종적으로 모델마다 피처엔지니어링을 다르게하여 각자 다른 관점을 갖도록 하였습니다. </a:t>
            </a:r>
            <a:endParaRPr/>
          </a:p>
        </p:txBody>
      </p:sp>
      <p:sp>
        <p:nvSpPr>
          <p:cNvPr id="349" name="Google Shape;3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수치형 결측치는 중앙값으로 대체하거나 결측치 그대로 두었고,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범주형 결측치는 “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Unknown”이라는 별도 항목으로 처리하였습니다.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스케일링은 저희가 사용한 모델이 분기형 알고리즘 으로 피처 스케일에 영향을 받지 않아 적용하지 않았습니다.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타겟 인코딩 결과값이 이미 0~1 범위로 자연 정규화되고 최종 앙상블 시 랭크 에버리지를 통해 스케일 격차를 통일했습니다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타겟 비율을 사수한 5-Fold 교차 검증입니다.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저희 데이터는 임신 성공과 실패 비율이 약 2.87 대 1로 불균형한 상태라서, 모든 5개의 검증 폴드가 클래스 비율을 유지하도록 계층화(Stratified)하였습니다.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정보 누수(Data Leakage)를 원천 차단한 스트릭트 인코팅입니다.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각 폴드 내부의 순수 학습(Train) 데이터만으로 타겟 비율을 계산하고, 이를 검증 셋에 적용하도록 하여 평가신뢰도를 지켰습니다. 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Out-of-Fold 앙상블을 통한 비편향 예측으로 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각기 다른 5개의 검증 폴드가 뱉어낸 예측값들을 하나로 결합한 결과, 전체 학습 데이터에 대해 편향이 개입되지 않은 OOF(Out-of-Fold) 예측값을 산출해 낼 수 있었습니다.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모델링 입니다.</a:t>
            </a:r>
            <a:endParaRPr/>
          </a:p>
        </p:txBody>
      </p:sp>
      <p:sp>
        <p:nvSpPr>
          <p:cNvPr id="395" name="Google Shape;3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아키텍처는 LightGBM , CatBoost, XGBoost 세 모델의 앙상블로 구성 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LGB 는 FE-v1 피처셋을 기반으로 learning_rate 0.0354, num_leaves 266, is_unbalance = True 등의 파라미터로 튜닝 됐습니다.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CatBoost는 FE-v2 와 타겟인코딩을 적용하며 auto_class_weights Balanced를 사용했습니다.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XGBoost는 FE-v2 에 ITE 상호작용 피처까지 더한 피처셋을 활용했습니다.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모든 하이퍼파라미터는 옵튜나를 통해 최적화 했습니다.</a:t>
            </a:r>
            <a:endParaRPr/>
          </a:p>
        </p:txBody>
      </p:sp>
      <p:sp>
        <p:nvSpPr>
          <p:cNvPr id="411" name="Google Shape;41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손실 함수는 세 모델 모두 이진 로그 손실을 사용하고 평가 지표는 AUC를 기준으로 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하이퍼 파라미터 탐색에는 옵튜나의 TPE 샘플러를 사용해 각 모델 별로 50~200 trials 를 수행했고, 얼리 스타핑으로 과적합을 방지했습니다.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최종 앙상블은 랭크 에버리지 방식을 사용했습니다.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모델의 예측 확률 값을 순위로 변환하는 단조 변환은 AUC에 영향을 주지 않기 때문에 </a:t>
            </a:r>
            <a:endParaRPr u="sng"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30개 모델의 순위 평균을 구한 뒤, 이를 0과 1 사이의 값으로 스케일링(Min-Max 정규화)하여 최종 예측 확률로 활용하였습니다</a:t>
            </a:r>
            <a:endParaRPr/>
          </a:p>
        </p:txBody>
      </p:sp>
      <p:sp>
        <p:nvSpPr>
          <p:cNvPr id="473" name="Google Shape;47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최종 파일의 앙상블 구조를 설명드리겠습니다.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10개의 서로 다른 랜덤시드에서 각 모델을 학습 시켜 총 30개 모델의 랭크 에버리지로 최종 예측을 생성했습니다.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시드 확장 효과를 보면 1개 시드에서 5개 시드로 늘렸을때  OOF AUC 가 0.00019 개선 되었고, 5개에서 10개로 늘렸을때는 0.00001 늘어나 수확 체감이 확인 되었습니다.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단순히 모델 수를 늘리는 것보다 피처의 다양성이 더 중요함을 확인했습니다.</a:t>
            </a:r>
            <a:endParaRPr/>
          </a:p>
        </p:txBody>
      </p:sp>
      <p:sp>
        <p:nvSpPr>
          <p:cNvPr id="522" name="Google Shape;52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다음은 팀 전체 실험 흐름입니다. 세 팀원이 각각 로지스틱 회귀, 랜덤포레스트, LightGBM으로 출발해 0.699~0.739의 베이스라인을 확보했습니다.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초기에 파생변수를 추가했을 때 OOF는 0.749로 높게 나왔지만, 리더보드는 0.738로 0.011 괴리가 발생했습니다. Hold-out 검증의 한계를 직접 경험하고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이후 모든 실험을 OOF 5-fold로 전환하고, CatBoost와 XGBoost를 단독 학습해 앙상블 후보를 확정하는 등으로  전략 방향을 잡았습니다.</a:t>
            </a:r>
            <a:endParaRPr/>
          </a:p>
        </p:txBody>
      </p:sp>
      <p:sp>
        <p:nvSpPr>
          <p:cNvPr id="580" name="Google Shape;58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69c578ed5_0_6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e69c578ed5_0_6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본격적인 개선 과정입니다. 앞서 말씀드린 과적합 경험을 계기로 RF에서 LGB로 모델을 전환하고, LGB,catboost,xgboost 세 모델 앙상블로 0.7413을 달성했습니다.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이후 공통 전처리 모듈을 도입해 데이터 리키지를 제거하면서 성능이 안정화됐고, 3모델을 Optuna 재튜닝으로 0.74169까지 올렸습니다.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실패 경험도 있었는데, 외부 submission과 앙상블했을 때 모델 간 상관관계가 0.989로 너무 높아 오히려 점수가 떨어졌습니다.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다양성 없는 앙상블은 역효과라는 걸 확인한 부분입니다.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교훈을 바탕으로 모델마다 다른 피처셋을 적용하는 피처 다양성 앙상블을 구성하고,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멀티 시드 10개로 30개 모델 Rank Average를 최종 제출해 리더보드 0.74223을 달성했습니다.</a:t>
            </a:r>
            <a:endParaRPr/>
          </a:p>
        </p:txBody>
      </p:sp>
      <p:sp>
        <p:nvSpPr>
          <p:cNvPr id="630" name="Google Shape;630;g3e69c578ed5_0_6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평가 지표 입니다.</a:t>
            </a:r>
            <a:endParaRPr/>
          </a:p>
        </p:txBody>
      </p:sp>
      <p:sp>
        <p:nvSpPr>
          <p:cNvPr id="702" name="Google Shape;70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최종 결과는 OOF AUC 0.74091, 리더보드 AUC 는 0.74233 을 기록 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OOF 와 리더보드 간의 갭이 0.00132 로 과적합 없이 일관된 성능 향상이 이루어 졌음을 확일 할 수 있었습니다.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인사이트를 정리하면, 피처 다양성이 단일 튜닝보다 효과적이었고, 멀티 시드 앙상블은 수확체감이 존재하며 폴드 내부의 타겟 인코딩으로 데이터 누수를 완전히 차단했고, 랭크 에버리지는 간단하면서도 강건한 앙상블 방식임을 확인했습니다.</a:t>
            </a:r>
            <a:endParaRPr/>
          </a:p>
        </p:txBody>
      </p:sp>
      <p:sp>
        <p:nvSpPr>
          <p:cNvPr id="718" name="Google Shape;71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69c578ed5_0_5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e69c578ed5_0_5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이번 해커톤을 통해 네가지 교훈을 얻었습니다.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첫째. 피처 다양성이 핵심이다. 같은 모델이라도 서로 다른 피처셋을 주는 것이 단일 모델 튜닝보다 더 효과적이었습니다.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둘째, 데이터 누수는 항상 조심해야 한다.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TE를 폴드 밖에서 계산 하면 성능이 부풀려지고 실제 점수는 오르지 않았습니다.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셋째, 결측값 자체가 정보이다.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 시술의 경과일 변수가 100% 결측인 것은 데이터 오류가 아닌 DI 시술 자체에 해당 프로세스가 없는 구조적 부재였습니다.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또한 결측 패턴에 따라 임신 성공률이 2~39%  까지 극단적인 차이를 보였는데,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이를 바탕으로 신선 시술 여부, 임신시도 기록 있음 등의 결측 여부를 이진 플래그 변환해 핵심 피처로 활용 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결측을 단순히 채워야할 빈칸이 아닌 의미있는 신호로 바라보는 시각을 얻었습니다.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넷째, 앙상블의 수확체감을 직접 경험했다.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무작정 모델을 늘리기보다 피처의 다양성을 높이는 것이 더 중요했습니다.</a:t>
            </a:r>
            <a:endParaRPr/>
          </a:p>
        </p:txBody>
      </p:sp>
      <p:sp>
        <p:nvSpPr>
          <p:cNvPr id="770" name="Google Shape;770;g3e69c578ed5_0_5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e69c578ed5_0_4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e69c578ed5_0_4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소감 발표 ~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이상으로 11조 두줄리안의 발표를 마치겠습니다. 경청해주셔서 감사합니다//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e69c578ed5_0_4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-731520"/>
            <a:ext cx="2926080" cy="292608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0" y="2926080"/>
            <a:ext cx="2286000" cy="228600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772400" y="2560320"/>
            <a:ext cx="1645920" cy="1645920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548640"/>
            <a:ext cx="2286000" cy="292608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5486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오즈코딩스쿨 AI 해커톤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난임 환자 대상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임신 성공 여부 예측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0175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AI 모델 개발 및 성능 예측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493008"/>
            <a:ext cx="1371600" cy="41148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36576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11조  ·  </a:t>
            </a: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설윤재</a:t>
            </a: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윤지현</a:t>
            </a: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조여진</a:t>
            </a:r>
            <a:endParaRPr sz="1100">
              <a:solidFill>
                <a:srgbClr val="4A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760720" y="1645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Ⅱ줄리안(두줄리안)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60720" y="2194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2026.04.23 ~ 2026.04.29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0" y="5029200"/>
            <a:ext cx="5669280" cy="1143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25603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74980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50" y="1188575"/>
            <a:ext cx="8412600" cy="77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65750" y="1188575"/>
            <a:ext cx="777300" cy="77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5750" y="1188575"/>
            <a:ext cx="777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70" y="1279386"/>
            <a:ext cx="228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데이터 탐색</a:t>
            </a:r>
            <a:endParaRPr b="1">
              <a:solidFill>
                <a:srgbClr val="1A2E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25870" y="1588144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900">
              <a:solidFill>
                <a:srgbClr val="9BB5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749030" y="1324792"/>
            <a:ext cx="18300" cy="4992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931910" y="1388359"/>
            <a:ext cx="4663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데이터셋 구조 · 타깃 분포 · 변수 분석 · 상관관계</a:t>
            </a:r>
            <a:endParaRPr sz="1000">
              <a:solidFill>
                <a:srgbClr val="4A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50" y="2078524"/>
            <a:ext cx="8412600" cy="7719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65750" y="2078524"/>
            <a:ext cx="777300" cy="77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65750" y="2078524"/>
            <a:ext cx="777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325870" y="2169335"/>
            <a:ext cx="228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b="1">
              <a:solidFill>
                <a:srgbClr val="1A2E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25870" y="2478093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sz="900">
              <a:solidFill>
                <a:srgbClr val="9BB5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749030" y="2214741"/>
            <a:ext cx="18300" cy="4992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931910" y="2278309"/>
            <a:ext cx="4663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Feature Encoding · 결측치 · 정규화 · 데이터 분리</a:t>
            </a:r>
            <a:endParaRPr sz="1000">
              <a:solidFill>
                <a:srgbClr val="4A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50" y="2968474"/>
            <a:ext cx="8412600" cy="77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65750" y="2968474"/>
            <a:ext cx="777300" cy="77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65750" y="2968474"/>
            <a:ext cx="777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325870" y="3059285"/>
            <a:ext cx="228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endParaRPr b="1">
              <a:solidFill>
                <a:srgbClr val="1A2E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325870" y="3368043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Modeling &amp; Architecture</a:t>
            </a:r>
            <a:endParaRPr sz="900">
              <a:solidFill>
                <a:srgbClr val="9BB5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749030" y="3104690"/>
            <a:ext cx="18300" cy="4992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931910" y="3168258"/>
            <a:ext cx="4663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문제 정의 · 아키텍처 · 손실함수 · 하이퍼파라미터</a:t>
            </a:r>
            <a:endParaRPr sz="1000">
              <a:solidFill>
                <a:srgbClr val="4A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65700" y="3858428"/>
            <a:ext cx="8412600" cy="7719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65700" y="3858428"/>
            <a:ext cx="777300" cy="77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65700" y="3858428"/>
            <a:ext cx="777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325820" y="3949239"/>
            <a:ext cx="228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평가 지표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325820" y="4257997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748980" y="3994644"/>
            <a:ext cx="18300" cy="4992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3931860" y="4058212"/>
            <a:ext cx="4663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평가지표 계산 및 성능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69c578ed5_1_1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69c578ed5_1_12"/>
          <p:cNvSpPr/>
          <p:nvPr/>
        </p:nvSpPr>
        <p:spPr>
          <a:xfrm>
            <a:off x="-274320" y="54864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69c578ed5_1_12"/>
          <p:cNvSpPr/>
          <p:nvPr/>
        </p:nvSpPr>
        <p:spPr>
          <a:xfrm>
            <a:off x="2011680" y="822960"/>
            <a:ext cx="51207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e69c578ed5_1_12"/>
          <p:cNvSpPr/>
          <p:nvPr/>
        </p:nvSpPr>
        <p:spPr>
          <a:xfrm>
            <a:off x="2011680" y="822960"/>
            <a:ext cx="91500" cy="3200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e69c578ed5_1_12"/>
          <p:cNvSpPr/>
          <p:nvPr/>
        </p:nvSpPr>
        <p:spPr>
          <a:xfrm>
            <a:off x="2834640" y="1188720"/>
            <a:ext cx="914400" cy="914400"/>
          </a:xfrm>
          <a:prstGeom prst="ellipse">
            <a:avLst/>
          </a:prstGeom>
          <a:solidFill>
            <a:srgbClr val="E0F5F3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g3e69c578ed5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232" y="13533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e69c578ed5_1_12"/>
          <p:cNvSpPr/>
          <p:nvPr/>
        </p:nvSpPr>
        <p:spPr>
          <a:xfrm>
            <a:off x="3931920" y="118872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S E C T I O N  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e69c578ed5_1_12"/>
          <p:cNvSpPr/>
          <p:nvPr/>
        </p:nvSpPr>
        <p:spPr>
          <a:xfrm>
            <a:off x="3931920" y="1572768"/>
            <a:ext cx="292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데이터 탐색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e69c578ed5_1_12"/>
          <p:cNvSpPr/>
          <p:nvPr/>
        </p:nvSpPr>
        <p:spPr>
          <a:xfrm>
            <a:off x="3931920" y="2331720"/>
            <a:ext cx="914400" cy="45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e69c578ed5_1_12"/>
          <p:cNvSpPr/>
          <p:nvPr/>
        </p:nvSpPr>
        <p:spPr>
          <a:xfrm>
            <a:off x="3931920" y="2487168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e69c578ed5_1_12"/>
          <p:cNvSpPr/>
          <p:nvPr/>
        </p:nvSpPr>
        <p:spPr>
          <a:xfrm>
            <a:off x="0" y="5029200"/>
            <a:ext cx="9144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69c578ed5_1_2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69c578ed5_1_29"/>
          <p:cNvSpPr/>
          <p:nvPr/>
        </p:nvSpPr>
        <p:spPr>
          <a:xfrm>
            <a:off x="0" y="73152"/>
            <a:ext cx="9144000" cy="7131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69c578ed5_1_29"/>
          <p:cNvSpPr/>
          <p:nvPr/>
        </p:nvSpPr>
        <p:spPr>
          <a:xfrm>
            <a:off x="365760" y="118872"/>
            <a:ext cx="63900" cy="62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69c578ed5_1_29"/>
          <p:cNvSpPr/>
          <p:nvPr/>
        </p:nvSpPr>
        <p:spPr>
          <a:xfrm>
            <a:off x="566928" y="164592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데이터셋 구조 및 변수 확인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e69c578ed5_1_29"/>
          <p:cNvSpPr/>
          <p:nvPr/>
        </p:nvSpPr>
        <p:spPr>
          <a:xfrm>
            <a:off x="365760" y="987552"/>
            <a:ext cx="84126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69c578ed5_1_29"/>
          <p:cNvSpPr/>
          <p:nvPr/>
        </p:nvSpPr>
        <p:spPr>
          <a:xfrm>
            <a:off x="0" y="5029200"/>
            <a:ext cx="9144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69c578ed5_1_29"/>
          <p:cNvSpPr/>
          <p:nvPr/>
        </p:nvSpPr>
        <p:spPr>
          <a:xfrm>
            <a:off x="365760" y="960120"/>
            <a:ext cx="1920300" cy="9600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69c578ed5_1_29"/>
          <p:cNvSpPr/>
          <p:nvPr/>
        </p:nvSpPr>
        <p:spPr>
          <a:xfrm>
            <a:off x="365760" y="960120"/>
            <a:ext cx="1920300" cy="54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69c578ed5_1_29"/>
          <p:cNvSpPr/>
          <p:nvPr/>
        </p:nvSpPr>
        <p:spPr>
          <a:xfrm>
            <a:off x="475488" y="1042416"/>
            <a:ext cx="1700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전체 샘플 수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69c578ed5_1_29"/>
          <p:cNvSpPr/>
          <p:nvPr/>
        </p:nvSpPr>
        <p:spPr>
          <a:xfrm>
            <a:off x="475488" y="1280160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256,351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69c578ed5_1_29"/>
          <p:cNvSpPr/>
          <p:nvPr/>
        </p:nvSpPr>
        <p:spPr>
          <a:xfrm>
            <a:off x="475488" y="1609344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e69c578ed5_1_29"/>
          <p:cNvSpPr/>
          <p:nvPr/>
        </p:nvSpPr>
        <p:spPr>
          <a:xfrm>
            <a:off x="2487168" y="960120"/>
            <a:ext cx="1920300" cy="9600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69c578ed5_1_29"/>
          <p:cNvSpPr/>
          <p:nvPr/>
        </p:nvSpPr>
        <p:spPr>
          <a:xfrm>
            <a:off x="2487168" y="960120"/>
            <a:ext cx="1920300" cy="54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69c578ed5_1_29"/>
          <p:cNvSpPr/>
          <p:nvPr/>
        </p:nvSpPr>
        <p:spPr>
          <a:xfrm>
            <a:off x="2596896" y="1042416"/>
            <a:ext cx="1700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총 피처 수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e69c578ed5_1_29"/>
          <p:cNvSpPr/>
          <p:nvPr/>
        </p:nvSpPr>
        <p:spPr>
          <a:xfrm>
            <a:off x="2596896" y="1280160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e69c578ed5_1_29"/>
          <p:cNvSpPr/>
          <p:nvPr/>
        </p:nvSpPr>
        <p:spPr>
          <a:xfrm>
            <a:off x="2596896" y="1609344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69c578ed5_1_29"/>
          <p:cNvSpPr/>
          <p:nvPr/>
        </p:nvSpPr>
        <p:spPr>
          <a:xfrm>
            <a:off x="4608576" y="960120"/>
            <a:ext cx="1920300" cy="9600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69c578ed5_1_29"/>
          <p:cNvSpPr/>
          <p:nvPr/>
        </p:nvSpPr>
        <p:spPr>
          <a:xfrm>
            <a:off x="4608576" y="960120"/>
            <a:ext cx="1920300" cy="54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69c578ed5_1_29"/>
          <p:cNvSpPr/>
          <p:nvPr/>
        </p:nvSpPr>
        <p:spPr>
          <a:xfrm>
            <a:off x="4718304" y="1042416"/>
            <a:ext cx="1700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수치형 변수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69c578ed5_1_29"/>
          <p:cNvSpPr/>
          <p:nvPr/>
        </p:nvSpPr>
        <p:spPr>
          <a:xfrm>
            <a:off x="4718304" y="1280160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69c578ed5_1_29"/>
          <p:cNvSpPr/>
          <p:nvPr/>
        </p:nvSpPr>
        <p:spPr>
          <a:xfrm>
            <a:off x="4718304" y="1609344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69c578ed5_1_29"/>
          <p:cNvSpPr/>
          <p:nvPr/>
        </p:nvSpPr>
        <p:spPr>
          <a:xfrm>
            <a:off x="6729984" y="960120"/>
            <a:ext cx="1920300" cy="9600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69c578ed5_1_29"/>
          <p:cNvSpPr/>
          <p:nvPr/>
        </p:nvSpPr>
        <p:spPr>
          <a:xfrm>
            <a:off x="6729984" y="960120"/>
            <a:ext cx="1920300" cy="54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69c578ed5_1_29"/>
          <p:cNvSpPr/>
          <p:nvPr/>
        </p:nvSpPr>
        <p:spPr>
          <a:xfrm>
            <a:off x="6839712" y="1042416"/>
            <a:ext cx="1700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범주형 변수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69c578ed5_1_29"/>
          <p:cNvSpPr/>
          <p:nvPr/>
        </p:nvSpPr>
        <p:spPr>
          <a:xfrm>
            <a:off x="6839712" y="1280160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69c578ed5_1_29"/>
          <p:cNvSpPr/>
          <p:nvPr/>
        </p:nvSpPr>
        <p:spPr>
          <a:xfrm>
            <a:off x="6839712" y="1609344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69c578ed5_1_29"/>
          <p:cNvSpPr/>
          <p:nvPr/>
        </p:nvSpPr>
        <p:spPr>
          <a:xfrm>
            <a:off x="365760" y="2084832"/>
            <a:ext cx="4023300" cy="25785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69c578ed5_1_29"/>
          <p:cNvSpPr/>
          <p:nvPr/>
        </p:nvSpPr>
        <p:spPr>
          <a:xfrm>
            <a:off x="502920" y="2176272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타겟 변수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69c578ed5_1_29"/>
          <p:cNvSpPr/>
          <p:nvPr/>
        </p:nvSpPr>
        <p:spPr>
          <a:xfrm>
            <a:off x="502920" y="2450592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`임신 성공 여부`  (0: 실패 / 1: 성공)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69c578ed5_1_29"/>
          <p:cNvSpPr/>
          <p:nvPr/>
        </p:nvSpPr>
        <p:spPr>
          <a:xfrm>
            <a:off x="502920" y="2834640"/>
            <a:ext cx="3749100" cy="4116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69c578ed5_1_29"/>
          <p:cNvSpPr/>
          <p:nvPr/>
        </p:nvSpPr>
        <p:spPr>
          <a:xfrm>
            <a:off x="502920" y="2834640"/>
            <a:ext cx="2781900" cy="411600"/>
          </a:xfrm>
          <a:prstGeom prst="rect">
            <a:avLst/>
          </a:prstGeom>
          <a:solidFill>
            <a:srgbClr val="D9303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69c578ed5_1_29"/>
          <p:cNvSpPr/>
          <p:nvPr/>
        </p:nvSpPr>
        <p:spPr>
          <a:xfrm>
            <a:off x="3284708" y="2834640"/>
            <a:ext cx="967200" cy="411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69c578ed5_1_29"/>
          <p:cNvSpPr/>
          <p:nvPr/>
        </p:nvSpPr>
        <p:spPr>
          <a:xfrm>
            <a:off x="548640" y="2880360"/>
            <a:ext cx="182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실패  74.2%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69c578ed5_1_29"/>
          <p:cNvSpPr/>
          <p:nvPr/>
        </p:nvSpPr>
        <p:spPr>
          <a:xfrm>
            <a:off x="3017520" y="2880360"/>
            <a:ext cx="1188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성공 25.8%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69c578ed5_1_29"/>
          <p:cNvSpPr/>
          <p:nvPr/>
        </p:nvSpPr>
        <p:spPr>
          <a:xfrm>
            <a:off x="502920" y="333756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⚠  클래스 불균형 (약 2.9:1)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69c578ed5_1_29"/>
          <p:cNvSpPr/>
          <p:nvPr/>
        </p:nvSpPr>
        <p:spPr>
          <a:xfrm>
            <a:off x="502920" y="3584448"/>
            <a:ext cx="374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→ is_unbalance / class_weight 전략 적용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69c578ed5_1_29"/>
          <p:cNvSpPr/>
          <p:nvPr/>
        </p:nvSpPr>
        <p:spPr>
          <a:xfrm>
            <a:off x="502920" y="3858768"/>
            <a:ext cx="374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• 성공 샘플: 66,228개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• 실패 샘플: 190,123개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e69c578ed5_1_29"/>
          <p:cNvSpPr/>
          <p:nvPr/>
        </p:nvSpPr>
        <p:spPr>
          <a:xfrm>
            <a:off x="4526280" y="2084832"/>
            <a:ext cx="4251900" cy="25785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69c578ed5_1_29"/>
          <p:cNvSpPr/>
          <p:nvPr/>
        </p:nvSpPr>
        <p:spPr>
          <a:xfrm>
            <a:off x="4663440" y="2176272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주요 변수 유형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69c578ed5_1_29"/>
          <p:cNvSpPr/>
          <p:nvPr/>
        </p:nvSpPr>
        <p:spPr>
          <a:xfrm>
            <a:off x="4663440" y="2542032"/>
            <a:ext cx="640200" cy="274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69c578ed5_1_29"/>
          <p:cNvSpPr/>
          <p:nvPr/>
        </p:nvSpPr>
        <p:spPr>
          <a:xfrm>
            <a:off x="4663440" y="2542032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배아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69c578ed5_1_29"/>
          <p:cNvSpPr/>
          <p:nvPr/>
        </p:nvSpPr>
        <p:spPr>
          <a:xfrm>
            <a:off x="5376672" y="256032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총 생성 배아 수 · 이식된 배아 수 · 저장된 배아 수 등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69c578ed5_1_29"/>
          <p:cNvSpPr/>
          <p:nvPr/>
        </p:nvSpPr>
        <p:spPr>
          <a:xfrm>
            <a:off x="4663440" y="3035808"/>
            <a:ext cx="640200" cy="274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69c578ed5_1_29"/>
          <p:cNvSpPr/>
          <p:nvPr/>
        </p:nvSpPr>
        <p:spPr>
          <a:xfrm>
            <a:off x="4663440" y="3035808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경과일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e69c578ed5_1_29"/>
          <p:cNvSpPr/>
          <p:nvPr/>
        </p:nvSpPr>
        <p:spPr>
          <a:xfrm>
            <a:off x="5376672" y="3054096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난자 채취 · 난자 혼합 · 배아 이식 경과일 등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e69c578ed5_1_29"/>
          <p:cNvSpPr/>
          <p:nvPr/>
        </p:nvSpPr>
        <p:spPr>
          <a:xfrm>
            <a:off x="4663440" y="3529584"/>
            <a:ext cx="640200" cy="274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69c578ed5_1_29"/>
          <p:cNvSpPr/>
          <p:nvPr/>
        </p:nvSpPr>
        <p:spPr>
          <a:xfrm>
            <a:off x="4663440" y="3529584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환자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69c578ed5_1_29"/>
          <p:cNvSpPr/>
          <p:nvPr/>
        </p:nvSpPr>
        <p:spPr>
          <a:xfrm>
            <a:off x="5376672" y="3547872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시술 당시 나이 · 시술 횟수 · 불임 원인 플래그 12개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69c578ed5_1_29"/>
          <p:cNvSpPr/>
          <p:nvPr/>
        </p:nvSpPr>
        <p:spPr>
          <a:xfrm>
            <a:off x="4663440" y="4023360"/>
            <a:ext cx="640200" cy="274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69c578ed5_1_29"/>
          <p:cNvSpPr/>
          <p:nvPr/>
        </p:nvSpPr>
        <p:spPr>
          <a:xfrm>
            <a:off x="4663440" y="40233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시술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69c578ed5_1_29"/>
          <p:cNvSpPr/>
          <p:nvPr/>
        </p:nvSpPr>
        <p:spPr>
          <a:xfrm>
            <a:off x="5376672" y="4041648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시술 유형 (IVF/DI) · 난자/정자 출처 · 배아 단계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타깃 분포 확인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내용을 입력하세요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050" y="2490969"/>
            <a:ext cx="5416501" cy="226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802902" y="1179879"/>
            <a:ext cx="2127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25B4A6"/>
                </a:solidFill>
              </a:rPr>
              <a:t>2.87:1</a:t>
            </a:r>
            <a:endParaRPr b="1" sz="5200">
              <a:solidFill>
                <a:srgbClr val="25B4A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5088"/>
                </a:solidFill>
              </a:rPr>
              <a:t>Class Imbalance Ratio</a:t>
            </a:r>
            <a:endParaRPr sz="1000">
              <a:solidFill>
                <a:srgbClr val="0050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>
              <a:solidFill>
                <a:srgbClr val="005088"/>
              </a:solidFill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3364125" y="1179875"/>
            <a:ext cx="49752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00">
                <a:solidFill>
                  <a:srgbClr val="00B4A6"/>
                </a:solidFill>
              </a:rPr>
              <a:t>불균형 처리를 위한 기술적 대응</a:t>
            </a:r>
            <a:endParaRPr b="1" sz="1100">
              <a:solidFill>
                <a:srgbClr val="00B4A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성공과 실패의 높은 불균형 비율을 해결하기 위해 모델별 최적 가중치 기법을 적용했습니다.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 LightGBM: is_unbalance=True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 CatBoost: Balanced Weights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 XGBoost: scale_pos_weight=2.87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결측치 분석 및 처리 전략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내용을 입력하세요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20040" y="960120"/>
            <a:ext cx="2651700" cy="34929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20040" y="960120"/>
            <a:ext cx="2651700" cy="3474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29768" y="996696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상수 컬럼 제거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84632" y="1499616"/>
            <a:ext cx="118800" cy="1188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67512" y="1435608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불임 원인 - 여성 요인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84632" y="1883664"/>
            <a:ext cx="118800" cy="1188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67512" y="1819656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난자 채취 경과일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65762" y="2386579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전체 행이 동일 한 값  </a:t>
            </a:r>
            <a:r>
              <a:rPr lang="en-US" sz="9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예측력 없음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29768" y="3337560"/>
            <a:ext cx="2423100" cy="183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172968" y="960120"/>
            <a:ext cx="2651700" cy="34929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172968" y="960120"/>
            <a:ext cx="2651700" cy="3474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282696" y="996696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결</a:t>
            </a: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측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도메인 기반 의미적 대치(0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재코딩)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337560" y="1499616"/>
            <a:ext cx="118800" cy="118800"/>
          </a:xfrm>
          <a:prstGeom prst="ellipse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3520440" y="1435608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PGS 시술 여부 (결측률 99.3%)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337560" y="1883664"/>
            <a:ext cx="118800" cy="118800"/>
          </a:xfrm>
          <a:prstGeom prst="ellipse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520440" y="1819656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PDG 시술 여부 (결측률 99.2%)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337560" y="2267712"/>
            <a:ext cx="118800" cy="118800"/>
          </a:xfrm>
          <a:prstGeom prst="ellipse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520440" y="2203704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착상 전 유전 검사 사용 여부 (결측률 98.9%)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282690" y="2715777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 결측값 전부 1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결측 = 미시행(0)으로 해석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282696" y="3337560"/>
            <a:ext cx="2423100" cy="183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025896" y="960120"/>
            <a:ext cx="2651700" cy="34929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6025896" y="960120"/>
            <a:ext cx="2651700" cy="347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135624" y="996696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결측 패턴 피처화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190488" y="1499616"/>
            <a:ext cx="118800" cy="1188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373368" y="1435608"/>
            <a:ext cx="214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수집된 신선 난자 수 등 특정 시술 프로세스 연관 변수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135625" y="2267725"/>
            <a:ext cx="242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데이터 누락 자체가 지니는 정보(예: 특정 시술 진행 여부)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5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 0과 1의 플래그 변수(예: 신선_시술_여부)로 파생하여 추가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135624" y="3337560"/>
            <a:ext cx="2423100" cy="183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20040" y="4526280"/>
            <a:ext cx="8503800" cy="3474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57200" y="454456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💡 핵심: DI 시술의 경과일 변수 전체 100% 결측 → 구조적 부재 (DI 시술 자체에 해당 프로세스 없음). 결측 패턴별 성공률 2%~39%로 극단적 차이 → </a:t>
            </a:r>
            <a:r>
              <a:rPr b="1" lang="en-US" sz="900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신선 시술 여부, 임신시도기록 있음 등 결측 여부를 이진 플래그로 변환해 피처 활용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20040" y="3429000"/>
            <a:ext cx="2651700" cy="54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29768" y="3456432"/>
            <a:ext cx="242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전략: </a:t>
            </a:r>
            <a:r>
              <a:rPr b="1" lang="en-US" sz="8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2개 컬럼 제거(예측력 없음)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172968" y="3429000"/>
            <a:ext cx="2651700" cy="54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3282696" y="3456432"/>
            <a:ext cx="242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전략: 결측</a:t>
            </a:r>
            <a:r>
              <a:rPr b="1" lang="en-US" sz="850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을 0으로 재 코딩 ( 미시행 의미)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025896" y="3429000"/>
            <a:ext cx="2651700" cy="54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135624" y="3456432"/>
            <a:ext cx="242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전략: </a:t>
            </a:r>
            <a:r>
              <a:rPr b="1" lang="en-US" sz="850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결측 패턴 피처화 (플래그 변수로 파생하여 추가)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69c578ed5_0_26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69c578ed5_0_261"/>
          <p:cNvSpPr/>
          <p:nvPr/>
        </p:nvSpPr>
        <p:spPr>
          <a:xfrm>
            <a:off x="0" y="73152"/>
            <a:ext cx="9144000" cy="7131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69c578ed5_0_261"/>
          <p:cNvSpPr/>
          <p:nvPr/>
        </p:nvSpPr>
        <p:spPr>
          <a:xfrm>
            <a:off x="365760" y="118872"/>
            <a:ext cx="63900" cy="62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e69c578ed5_0_261"/>
          <p:cNvSpPr/>
          <p:nvPr/>
        </p:nvSpPr>
        <p:spPr>
          <a:xfrm>
            <a:off x="566928" y="164592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주요 변수 분포 분석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e69c578ed5_0_261"/>
          <p:cNvSpPr/>
          <p:nvPr/>
        </p:nvSpPr>
        <p:spPr>
          <a:xfrm>
            <a:off x="365760" y="987552"/>
            <a:ext cx="84126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69c578ed5_0_261"/>
          <p:cNvSpPr/>
          <p:nvPr/>
        </p:nvSpPr>
        <p:spPr>
          <a:xfrm>
            <a:off x="365760" y="987552"/>
            <a:ext cx="84126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내용을 입력하세요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69c578ed5_0_261"/>
          <p:cNvSpPr/>
          <p:nvPr/>
        </p:nvSpPr>
        <p:spPr>
          <a:xfrm>
            <a:off x="0" y="5029200"/>
            <a:ext cx="9144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g3e69c578ed5_0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0" y="868675"/>
            <a:ext cx="8947101" cy="39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e69c578ed5_0_261"/>
          <p:cNvSpPr/>
          <p:nvPr/>
        </p:nvSpPr>
        <p:spPr>
          <a:xfrm>
            <a:off x="274320" y="4846320"/>
            <a:ext cx="8595300" cy="1464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69c578ed5_0_261"/>
          <p:cNvSpPr/>
          <p:nvPr/>
        </p:nvSpPr>
        <p:spPr>
          <a:xfrm>
            <a:off x="365760" y="4846320"/>
            <a:ext cx="8412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780"/>
              <a:buFont typeface="Calibri"/>
              <a:buNone/>
            </a:pPr>
            <a:r>
              <a:rPr b="1" i="0" lang="en-US" sz="98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💡 만43-44세가 만45-50세보다 낮음 (표본 특성 영향 가능)  ·  IVF가 DI의 약 2배 성공률  ·  시술 횟수 증가 시 성공률 감소 경향 (선택 편향 가능성)</a:t>
            </a:r>
            <a:endParaRPr b="0" i="0" sz="9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변수 간 상관관계 파악 - </a:t>
            </a: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히트맵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내용을 입력하세요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868680"/>
            <a:ext cx="8778240" cy="411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9c578ed5_0_26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69c578ed5_0_265"/>
          <p:cNvSpPr/>
          <p:nvPr/>
        </p:nvSpPr>
        <p:spPr>
          <a:xfrm>
            <a:off x="0" y="73152"/>
            <a:ext cx="9144000" cy="7131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69c578ed5_0_265"/>
          <p:cNvSpPr/>
          <p:nvPr/>
        </p:nvSpPr>
        <p:spPr>
          <a:xfrm>
            <a:off x="365760" y="118872"/>
            <a:ext cx="63900" cy="62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69c578ed5_0_265"/>
          <p:cNvSpPr/>
          <p:nvPr/>
        </p:nvSpPr>
        <p:spPr>
          <a:xfrm>
            <a:off x="566928" y="164592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변수 간 상관관계 파악 - </a:t>
            </a: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핵심 발견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69c578ed5_0_265"/>
          <p:cNvSpPr/>
          <p:nvPr/>
        </p:nvSpPr>
        <p:spPr>
          <a:xfrm>
            <a:off x="365710" y="900677"/>
            <a:ext cx="84126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69c578ed5_0_265"/>
          <p:cNvSpPr/>
          <p:nvPr/>
        </p:nvSpPr>
        <p:spPr>
          <a:xfrm>
            <a:off x="0" y="5029200"/>
            <a:ext cx="9144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69c578ed5_0_265"/>
          <p:cNvSpPr/>
          <p:nvPr/>
        </p:nvSpPr>
        <p:spPr>
          <a:xfrm>
            <a:off x="292625" y="900675"/>
            <a:ext cx="40692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69c578ed5_0_265"/>
          <p:cNvSpPr/>
          <p:nvPr/>
        </p:nvSpPr>
        <p:spPr>
          <a:xfrm>
            <a:off x="292678" y="896108"/>
            <a:ext cx="40692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69c578ed5_0_265"/>
          <p:cNvSpPr/>
          <p:nvPr/>
        </p:nvSpPr>
        <p:spPr>
          <a:xfrm>
            <a:off x="457200" y="1078992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임신 성공과 양의 상관 (높을수록 성공률 ↑)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69c578ed5_0_265"/>
          <p:cNvSpPr/>
          <p:nvPr/>
        </p:nvSpPr>
        <p:spPr>
          <a:xfrm>
            <a:off x="457200" y="1545325"/>
            <a:ext cx="107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이식된 배아 수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69c578ed5_0_265"/>
          <p:cNvSpPr/>
          <p:nvPr/>
        </p:nvSpPr>
        <p:spPr>
          <a:xfrm>
            <a:off x="1431948" y="1559043"/>
            <a:ext cx="2743200" cy="2196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69c578ed5_0_265"/>
          <p:cNvSpPr/>
          <p:nvPr/>
        </p:nvSpPr>
        <p:spPr>
          <a:xfrm>
            <a:off x="1431948" y="1558968"/>
            <a:ext cx="2153400" cy="219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69c578ed5_0_265"/>
          <p:cNvSpPr/>
          <p:nvPr/>
        </p:nvSpPr>
        <p:spPr>
          <a:xfrm>
            <a:off x="3585349" y="1572756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+0.157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69c578ed5_0_265"/>
          <p:cNvSpPr/>
          <p:nvPr/>
        </p:nvSpPr>
        <p:spPr>
          <a:xfrm>
            <a:off x="457200" y="2048250"/>
            <a:ext cx="107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배아 이식 경과일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69c578ed5_0_265"/>
          <p:cNvSpPr/>
          <p:nvPr/>
        </p:nvSpPr>
        <p:spPr>
          <a:xfrm>
            <a:off x="1431948" y="2084688"/>
            <a:ext cx="2743200" cy="2196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69c578ed5_0_265"/>
          <p:cNvSpPr/>
          <p:nvPr/>
        </p:nvSpPr>
        <p:spPr>
          <a:xfrm>
            <a:off x="1431923" y="2084688"/>
            <a:ext cx="2043600" cy="219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69c578ed5_0_265"/>
          <p:cNvSpPr/>
          <p:nvPr/>
        </p:nvSpPr>
        <p:spPr>
          <a:xfrm>
            <a:off x="3475546" y="2075663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+0.149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69c578ed5_0_265"/>
          <p:cNvSpPr/>
          <p:nvPr/>
        </p:nvSpPr>
        <p:spPr>
          <a:xfrm>
            <a:off x="457200" y="2551175"/>
            <a:ext cx="107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총 생성 배아 수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69c578ed5_0_265"/>
          <p:cNvSpPr/>
          <p:nvPr/>
        </p:nvSpPr>
        <p:spPr>
          <a:xfrm>
            <a:off x="1431961" y="2587621"/>
            <a:ext cx="2743200" cy="2196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e69c578ed5_0_265"/>
          <p:cNvSpPr/>
          <p:nvPr/>
        </p:nvSpPr>
        <p:spPr>
          <a:xfrm>
            <a:off x="1431936" y="2587621"/>
            <a:ext cx="2002500" cy="219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69c578ed5_0_265"/>
          <p:cNvSpPr/>
          <p:nvPr/>
        </p:nvSpPr>
        <p:spPr>
          <a:xfrm>
            <a:off x="3475586" y="2591196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+0.146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69c578ed5_0_265"/>
          <p:cNvSpPr/>
          <p:nvPr/>
        </p:nvSpPr>
        <p:spPr>
          <a:xfrm>
            <a:off x="457200" y="3054100"/>
            <a:ext cx="107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단일 배아 이식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e69c578ed5_0_265"/>
          <p:cNvSpPr/>
          <p:nvPr/>
        </p:nvSpPr>
        <p:spPr>
          <a:xfrm>
            <a:off x="1452473" y="3106728"/>
            <a:ext cx="2743200" cy="2196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69c578ed5_0_265"/>
          <p:cNvSpPr/>
          <p:nvPr/>
        </p:nvSpPr>
        <p:spPr>
          <a:xfrm>
            <a:off x="1419598" y="3103128"/>
            <a:ext cx="1824300" cy="219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69c578ed5_0_265"/>
          <p:cNvSpPr/>
          <p:nvPr/>
        </p:nvSpPr>
        <p:spPr>
          <a:xfrm>
            <a:off x="3475578" y="3106728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+0.133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69c578ed5_0_265"/>
          <p:cNvSpPr/>
          <p:nvPr/>
        </p:nvSpPr>
        <p:spPr>
          <a:xfrm>
            <a:off x="457200" y="3557025"/>
            <a:ext cx="107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혼합된 난자 수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69c578ed5_0_265"/>
          <p:cNvSpPr/>
          <p:nvPr/>
        </p:nvSpPr>
        <p:spPr>
          <a:xfrm>
            <a:off x="1452473" y="3593473"/>
            <a:ext cx="2743200" cy="2196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69c578ed5_0_265"/>
          <p:cNvSpPr/>
          <p:nvPr/>
        </p:nvSpPr>
        <p:spPr>
          <a:xfrm>
            <a:off x="1452473" y="3582211"/>
            <a:ext cx="1591200" cy="219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69c578ed5_0_265"/>
          <p:cNvSpPr/>
          <p:nvPr/>
        </p:nvSpPr>
        <p:spPr>
          <a:xfrm>
            <a:off x="3310131" y="3597123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+0.116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69c578ed5_0_265"/>
          <p:cNvSpPr/>
          <p:nvPr/>
        </p:nvSpPr>
        <p:spPr>
          <a:xfrm>
            <a:off x="457200" y="4059925"/>
            <a:ext cx="107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신선 난자 수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e69c578ed5_0_265"/>
          <p:cNvSpPr/>
          <p:nvPr/>
        </p:nvSpPr>
        <p:spPr>
          <a:xfrm>
            <a:off x="1452473" y="4078168"/>
            <a:ext cx="2743200" cy="219600"/>
          </a:xfrm>
          <a:prstGeom prst="rect">
            <a:avLst/>
          </a:prstGeom>
          <a:solidFill>
            <a:srgbClr val="D8ECE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69c578ed5_0_265"/>
          <p:cNvSpPr/>
          <p:nvPr/>
        </p:nvSpPr>
        <p:spPr>
          <a:xfrm>
            <a:off x="1452473" y="4078168"/>
            <a:ext cx="1138500" cy="219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69c578ed5_0_265"/>
          <p:cNvSpPr/>
          <p:nvPr/>
        </p:nvSpPr>
        <p:spPr>
          <a:xfrm>
            <a:off x="2822703" y="4087518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+0.083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69c578ed5_0_265"/>
          <p:cNvSpPr/>
          <p:nvPr/>
        </p:nvSpPr>
        <p:spPr>
          <a:xfrm>
            <a:off x="4663450" y="901075"/>
            <a:ext cx="4160400" cy="15354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69c578ed5_0_265"/>
          <p:cNvSpPr/>
          <p:nvPr/>
        </p:nvSpPr>
        <p:spPr>
          <a:xfrm>
            <a:off x="4663450" y="901075"/>
            <a:ext cx="4160400" cy="63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69c578ed5_0_265"/>
          <p:cNvSpPr/>
          <p:nvPr/>
        </p:nvSpPr>
        <p:spPr>
          <a:xfrm>
            <a:off x="4823360" y="1062606"/>
            <a:ext cx="38406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임신 성공과 음의 상관 (높을수록 성공률 ↓)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69c578ed5_0_265"/>
          <p:cNvSpPr/>
          <p:nvPr/>
        </p:nvSpPr>
        <p:spPr>
          <a:xfrm>
            <a:off x="4828042" y="1428729"/>
            <a:ext cx="128100" cy="1104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69c578ed5_0_265"/>
          <p:cNvSpPr/>
          <p:nvPr/>
        </p:nvSpPr>
        <p:spPr>
          <a:xfrm>
            <a:off x="5029210" y="1381476"/>
            <a:ext cx="2194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임신 시도 경과 연수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69c578ed5_0_265"/>
          <p:cNvSpPr/>
          <p:nvPr/>
        </p:nvSpPr>
        <p:spPr>
          <a:xfrm>
            <a:off x="7296922" y="1381476"/>
            <a:ext cx="5487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-0.052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e69c578ed5_0_265"/>
          <p:cNvSpPr/>
          <p:nvPr/>
        </p:nvSpPr>
        <p:spPr>
          <a:xfrm>
            <a:off x="4828042" y="1790999"/>
            <a:ext cx="128100" cy="1104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69c578ed5_0_265"/>
          <p:cNvSpPr/>
          <p:nvPr/>
        </p:nvSpPr>
        <p:spPr>
          <a:xfrm>
            <a:off x="5029210" y="1743746"/>
            <a:ext cx="2194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동결 배아 사용 여부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e69c578ed5_0_265"/>
          <p:cNvSpPr/>
          <p:nvPr/>
        </p:nvSpPr>
        <p:spPr>
          <a:xfrm>
            <a:off x="7296922" y="1743746"/>
            <a:ext cx="5487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-0.032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69c578ed5_0_265"/>
          <p:cNvSpPr/>
          <p:nvPr/>
        </p:nvSpPr>
        <p:spPr>
          <a:xfrm>
            <a:off x="4663440" y="2752342"/>
            <a:ext cx="4160400" cy="19842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69c578ed5_0_265"/>
          <p:cNvSpPr/>
          <p:nvPr/>
        </p:nvSpPr>
        <p:spPr>
          <a:xfrm>
            <a:off x="4663440" y="2752342"/>
            <a:ext cx="4160400" cy="732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e69c578ed5_0_265"/>
          <p:cNvSpPr/>
          <p:nvPr/>
        </p:nvSpPr>
        <p:spPr>
          <a:xfrm>
            <a:off x="4800600" y="2862070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배아 변수들 사이 높은 상관 (다중공선성)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e69c578ed5_0_265"/>
          <p:cNvSpPr/>
          <p:nvPr/>
        </p:nvSpPr>
        <p:spPr>
          <a:xfrm>
            <a:off x="4800600" y="3172976"/>
            <a:ext cx="384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배아 변수들끼리 같은 정보 담음 -&gt; 다중공선성. 중복 피처 정리 필요.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69c578ed5_0_265"/>
          <p:cNvSpPr/>
          <p:nvPr/>
        </p:nvSpPr>
        <p:spPr>
          <a:xfrm>
            <a:off x="4800600" y="3474836"/>
            <a:ext cx="3612000" cy="2742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69c578ed5_0_265"/>
          <p:cNvSpPr/>
          <p:nvPr/>
        </p:nvSpPr>
        <p:spPr>
          <a:xfrm>
            <a:off x="4891946" y="3511287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총 생성 배아  ↔  혼합 난자 수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69c578ed5_0_265"/>
          <p:cNvSpPr/>
          <p:nvPr/>
        </p:nvSpPr>
        <p:spPr>
          <a:xfrm>
            <a:off x="7179850" y="3511287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r = 0.89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69c578ed5_0_265"/>
          <p:cNvSpPr/>
          <p:nvPr/>
        </p:nvSpPr>
        <p:spPr>
          <a:xfrm>
            <a:off x="4800600" y="3863395"/>
            <a:ext cx="36120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69c578ed5_0_265"/>
          <p:cNvSpPr/>
          <p:nvPr/>
        </p:nvSpPr>
        <p:spPr>
          <a:xfrm>
            <a:off x="4882896" y="3899846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ICSI 배아 수  ↔  ICSI 난자 수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e69c578ed5_0_265"/>
          <p:cNvSpPr/>
          <p:nvPr/>
        </p:nvSpPr>
        <p:spPr>
          <a:xfrm>
            <a:off x="7179850" y="3916883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r = 0.94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69c578ed5_0_265"/>
          <p:cNvSpPr/>
          <p:nvPr/>
        </p:nvSpPr>
        <p:spPr>
          <a:xfrm>
            <a:off x="4800600" y="4204041"/>
            <a:ext cx="3612000" cy="2742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69c578ed5_0_265"/>
          <p:cNvSpPr/>
          <p:nvPr/>
        </p:nvSpPr>
        <p:spPr>
          <a:xfrm>
            <a:off x="4956121" y="4240430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동결배아  ↔  신선배아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69c578ed5_0_265"/>
          <p:cNvSpPr/>
          <p:nvPr/>
        </p:nvSpPr>
        <p:spPr>
          <a:xfrm>
            <a:off x="7351900" y="4251967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r = -1.00 (완전 역상관)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69c578ed5_0_265"/>
          <p:cNvSpPr/>
          <p:nvPr/>
        </p:nvSpPr>
        <p:spPr>
          <a:xfrm>
            <a:off x="457200" y="4675975"/>
            <a:ext cx="8229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💡 배아 관련 변수가 임신 성공과 가장 높은 상관 → 핵심 피처. 다중공선성 있는 변수는 피처 선택 또는 PCA 고려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69c578ed5_0_34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69c578ed5_0_344"/>
          <p:cNvSpPr/>
          <p:nvPr/>
        </p:nvSpPr>
        <p:spPr>
          <a:xfrm>
            <a:off x="0" y="73152"/>
            <a:ext cx="9144000" cy="7131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69c578ed5_0_344"/>
          <p:cNvSpPr/>
          <p:nvPr/>
        </p:nvSpPr>
        <p:spPr>
          <a:xfrm>
            <a:off x="365760" y="118872"/>
            <a:ext cx="63900" cy="62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e69c578ed5_0_344"/>
          <p:cNvSpPr/>
          <p:nvPr/>
        </p:nvSpPr>
        <p:spPr>
          <a:xfrm>
            <a:off x="566928" y="164592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EDA 주요 인사이트 요약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e69c578ed5_0_344"/>
          <p:cNvSpPr/>
          <p:nvPr/>
        </p:nvSpPr>
        <p:spPr>
          <a:xfrm>
            <a:off x="0" y="5029200"/>
            <a:ext cx="9144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69c578ed5_0_344"/>
          <p:cNvSpPr/>
          <p:nvPr/>
        </p:nvSpPr>
        <p:spPr>
          <a:xfrm>
            <a:off x="365760" y="987552"/>
            <a:ext cx="4160400" cy="1115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69c578ed5_0_344"/>
          <p:cNvSpPr/>
          <p:nvPr/>
        </p:nvSpPr>
        <p:spPr>
          <a:xfrm>
            <a:off x="365760" y="987552"/>
            <a:ext cx="73200" cy="11157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69c578ed5_0_344"/>
          <p:cNvSpPr/>
          <p:nvPr/>
        </p:nvSpPr>
        <p:spPr>
          <a:xfrm>
            <a:off x="530352" y="1078992"/>
            <a:ext cx="329100" cy="32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e69c578ed5_0_344"/>
          <p:cNvSpPr/>
          <p:nvPr/>
        </p:nvSpPr>
        <p:spPr>
          <a:xfrm>
            <a:off x="530352" y="1078992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e69c578ed5_0_344"/>
          <p:cNvSpPr/>
          <p:nvPr/>
        </p:nvSpPr>
        <p:spPr>
          <a:xfrm>
            <a:off x="960120" y="1078992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클래스 불균형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69c578ed5_0_344"/>
          <p:cNvSpPr/>
          <p:nvPr/>
        </p:nvSpPr>
        <p:spPr>
          <a:xfrm>
            <a:off x="960120" y="1371600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실패 74.2% vs 성공 25.8% (2.9:1)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→ is_unbalance / class_weight / StratifiedKFold 전략 필수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69c578ed5_0_344"/>
          <p:cNvSpPr/>
          <p:nvPr/>
        </p:nvSpPr>
        <p:spPr>
          <a:xfrm>
            <a:off x="365760" y="2249424"/>
            <a:ext cx="4160400" cy="1115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e69c578ed5_0_344"/>
          <p:cNvSpPr/>
          <p:nvPr/>
        </p:nvSpPr>
        <p:spPr>
          <a:xfrm>
            <a:off x="365760" y="2249424"/>
            <a:ext cx="73200" cy="11157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e69c578ed5_0_344"/>
          <p:cNvSpPr/>
          <p:nvPr/>
        </p:nvSpPr>
        <p:spPr>
          <a:xfrm>
            <a:off x="530352" y="2340864"/>
            <a:ext cx="329100" cy="32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e69c578ed5_0_344"/>
          <p:cNvSpPr/>
          <p:nvPr/>
        </p:nvSpPr>
        <p:spPr>
          <a:xfrm>
            <a:off x="530352" y="2340864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69c578ed5_0_344"/>
          <p:cNvSpPr/>
          <p:nvPr/>
        </p:nvSpPr>
        <p:spPr>
          <a:xfrm>
            <a:off x="960120" y="2340864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고결측 컬럼 다수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e69c578ed5_0_344"/>
          <p:cNvSpPr/>
          <p:nvPr/>
        </p:nvSpPr>
        <p:spPr>
          <a:xfrm>
            <a:off x="960120" y="2633472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4개 컬럼 90%↑ 결측 → 컬럼 제거 또는 플래그화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결측 패턴별 성공률이 2%~39%로 극단적 차이 발생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69c578ed5_0_344"/>
          <p:cNvSpPr/>
          <p:nvPr/>
        </p:nvSpPr>
        <p:spPr>
          <a:xfrm>
            <a:off x="365760" y="3511296"/>
            <a:ext cx="4160400" cy="1115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69c578ed5_0_344"/>
          <p:cNvSpPr/>
          <p:nvPr/>
        </p:nvSpPr>
        <p:spPr>
          <a:xfrm>
            <a:off x="365760" y="3511296"/>
            <a:ext cx="73200" cy="11157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69c578ed5_0_344"/>
          <p:cNvSpPr/>
          <p:nvPr/>
        </p:nvSpPr>
        <p:spPr>
          <a:xfrm>
            <a:off x="530352" y="3602736"/>
            <a:ext cx="329100" cy="32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69c578ed5_0_344"/>
          <p:cNvSpPr/>
          <p:nvPr/>
        </p:nvSpPr>
        <p:spPr>
          <a:xfrm>
            <a:off x="530352" y="3602736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69c578ed5_0_344"/>
          <p:cNvSpPr/>
          <p:nvPr/>
        </p:nvSpPr>
        <p:spPr>
          <a:xfrm>
            <a:off x="960120" y="3602736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나이는 핵심 피처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e69c578ed5_0_344"/>
          <p:cNvSpPr/>
          <p:nvPr/>
        </p:nvSpPr>
        <p:spPr>
          <a:xfrm>
            <a:off x="960120" y="3895344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만18-34세(~32%) → 만45-50세(~4%)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→ 나이 구간 파생 변수 또는 상호작용 피처 유효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e69c578ed5_0_344"/>
          <p:cNvSpPr/>
          <p:nvPr/>
        </p:nvSpPr>
        <p:spPr>
          <a:xfrm>
            <a:off x="4709160" y="987552"/>
            <a:ext cx="4160400" cy="1115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69c578ed5_0_344"/>
          <p:cNvSpPr/>
          <p:nvPr/>
        </p:nvSpPr>
        <p:spPr>
          <a:xfrm>
            <a:off x="4709160" y="987552"/>
            <a:ext cx="73200" cy="11157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69c578ed5_0_344"/>
          <p:cNvSpPr/>
          <p:nvPr/>
        </p:nvSpPr>
        <p:spPr>
          <a:xfrm>
            <a:off x="4873752" y="1078992"/>
            <a:ext cx="329100" cy="32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69c578ed5_0_344"/>
          <p:cNvSpPr/>
          <p:nvPr/>
        </p:nvSpPr>
        <p:spPr>
          <a:xfrm>
            <a:off x="4873752" y="1078992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e69c578ed5_0_344"/>
          <p:cNvSpPr/>
          <p:nvPr/>
        </p:nvSpPr>
        <p:spPr>
          <a:xfrm>
            <a:off x="5303520" y="1078992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배아 수치 변수군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e69c578ed5_0_344"/>
          <p:cNvSpPr/>
          <p:nvPr/>
        </p:nvSpPr>
        <p:spPr>
          <a:xfrm>
            <a:off x="5303520" y="1371600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이식된 배아 수 등 → 임신 성공과 양의 상관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다중공선성 존재 → PCA 또는 변수 선택 고려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e69c578ed5_0_344"/>
          <p:cNvSpPr/>
          <p:nvPr/>
        </p:nvSpPr>
        <p:spPr>
          <a:xfrm>
            <a:off x="4709160" y="2249424"/>
            <a:ext cx="4160400" cy="1115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e69c578ed5_0_344"/>
          <p:cNvSpPr/>
          <p:nvPr/>
        </p:nvSpPr>
        <p:spPr>
          <a:xfrm>
            <a:off x="4709160" y="2249424"/>
            <a:ext cx="73200" cy="11157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69c578ed5_0_344"/>
          <p:cNvSpPr/>
          <p:nvPr/>
        </p:nvSpPr>
        <p:spPr>
          <a:xfrm>
            <a:off x="4873752" y="2340864"/>
            <a:ext cx="329100" cy="329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69c578ed5_0_344"/>
          <p:cNvSpPr/>
          <p:nvPr/>
        </p:nvSpPr>
        <p:spPr>
          <a:xfrm>
            <a:off x="4873752" y="2340864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e69c578ed5_0_344"/>
          <p:cNvSpPr/>
          <p:nvPr/>
        </p:nvSpPr>
        <p:spPr>
          <a:xfrm>
            <a:off x="5303520" y="2340864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DI vs IVF 구조적 차이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e69c578ed5_0_344"/>
          <p:cNvSpPr/>
          <p:nvPr/>
        </p:nvSpPr>
        <p:spPr>
          <a:xfrm>
            <a:off x="5303520" y="2633472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DI는 경과일 변수 전체 100% 결측 (구조적 부재)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→ 시술 유형별 결측 플래그가 핵심 파생 피처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-274320" y="54864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2011680" y="822960"/>
            <a:ext cx="5120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2011680" y="822960"/>
            <a:ext cx="91440" cy="3200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2834640" y="1188720"/>
            <a:ext cx="914400" cy="914400"/>
          </a:xfrm>
          <a:prstGeom prst="ellipse">
            <a:avLst/>
          </a:prstGeom>
          <a:solidFill>
            <a:srgbClr val="E0F5F3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232" y="13533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8"/>
          <p:cNvSpPr/>
          <p:nvPr/>
        </p:nvSpPr>
        <p:spPr>
          <a:xfrm>
            <a:off x="393192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S E C T I O N  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3931920" y="1572768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3931920" y="2331720"/>
            <a:ext cx="914400" cy="4572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3931920" y="24871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Feature Encoding 및 </a:t>
            </a: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표현 방식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365755" y="987550"/>
            <a:ext cx="40686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</a:rPr>
              <a:t>고급 인코딩 기법 (TE &amp; ITE)</a:t>
            </a:r>
            <a:endParaRPr b="1" sz="1800">
              <a:solidFill>
                <a:srgbClr val="005088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260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Label Encoding:</a:t>
            </a:r>
            <a:r>
              <a:rPr lang="en-US" sz="1200">
                <a:solidFill>
                  <a:srgbClr val="475569"/>
                </a:solidFill>
              </a:rPr>
              <a:t> 트리 기반 모델에 적합한 정수 인코딩</a:t>
            </a:r>
            <a:endParaRPr sz="1200">
              <a:solidFill>
                <a:srgbClr val="47556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Target Encoding (TE):</a:t>
            </a:r>
            <a:r>
              <a:rPr lang="en-US" sz="1200">
                <a:solidFill>
                  <a:srgbClr val="475569"/>
                </a:solidFill>
              </a:rPr>
              <a:t> 시술/이식 유형 등 고차원 변수를 타겟 평균으로 수치화 </a:t>
            </a:r>
            <a:r>
              <a:rPr i="1" lang="en-US" sz="1200">
                <a:solidFill>
                  <a:srgbClr val="475569"/>
                </a:solidFill>
              </a:rPr>
              <a:t>(Smoothing alpha=10)</a:t>
            </a:r>
            <a:endParaRPr i="1" sz="1200">
              <a:solidFill>
                <a:srgbClr val="47556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Interaction Target Encoding (ITE):</a:t>
            </a:r>
            <a:r>
              <a:rPr lang="en-US" sz="1200">
                <a:solidFill>
                  <a:srgbClr val="475569"/>
                </a:solidFill>
              </a:rPr>
              <a:t> 두 범주형 변수 조합에 TE 적용 </a:t>
            </a:r>
            <a:r>
              <a:rPr i="1" lang="en-US" sz="1200">
                <a:solidFill>
                  <a:srgbClr val="475569"/>
                </a:solidFill>
              </a:rPr>
              <a:t>(alpha=20)</a:t>
            </a:r>
            <a:br>
              <a:rPr i="1" lang="en-US" sz="1200">
                <a:solidFill>
                  <a:srgbClr val="475569"/>
                </a:solidFill>
              </a:rPr>
            </a:br>
            <a:r>
              <a:rPr lang="en-US" sz="1200">
                <a:solidFill>
                  <a:srgbClr val="64748B"/>
                </a:solidFill>
              </a:rPr>
              <a:t>↳ 예: [시술유형 × 이식단계], [불임원인 × 시술횟수] 등 10쌍</a:t>
            </a:r>
            <a:endParaRPr sz="1200">
              <a:solidFill>
                <a:srgbClr val="64748B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CatBoost Native:</a:t>
            </a:r>
            <a:r>
              <a:rPr lang="en-US" sz="1200">
                <a:solidFill>
                  <a:srgbClr val="475569"/>
                </a:solidFill>
              </a:rPr>
              <a:t> </a:t>
            </a:r>
            <a:r>
              <a:rPr lang="en-US"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cat_features</a:t>
            </a:r>
            <a:r>
              <a:rPr lang="en-US" sz="1200">
                <a:solidFill>
                  <a:srgbClr val="475569"/>
                </a:solidFill>
              </a:rPr>
              <a:t> 파라미터로 내부 Ordered Target Statistics 활용 (EXP-042)</a:t>
            </a:r>
            <a:endParaRPr sz="1200"/>
          </a:p>
        </p:txBody>
      </p:sp>
      <p:sp>
        <p:nvSpPr>
          <p:cNvPr id="356" name="Google Shape;356;p9"/>
          <p:cNvSpPr/>
          <p:nvPr/>
        </p:nvSpPr>
        <p:spPr>
          <a:xfrm>
            <a:off x="4741105" y="955488"/>
            <a:ext cx="40686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41300" marR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00B4A6"/>
              </a:solidFill>
              <a:highlight>
                <a:srgbClr val="F8FAFC"/>
              </a:highlight>
            </a:endParaRPr>
          </a:p>
          <a:p>
            <a:pPr indent="0" lvl="0" marL="457200" marR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B4A6"/>
              </a:solidFill>
              <a:highlight>
                <a:srgbClr val="F8FAF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210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9BB5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4741105" y="996625"/>
            <a:ext cx="40686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</a:rPr>
              <a:t>앙상블 다양성을 위한 피처셋 구성</a:t>
            </a:r>
            <a:endParaRPr b="1" sz="1800">
              <a:solidFill>
                <a:srgbClr val="005088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</a:rPr>
              <a:t>단일 피처셋의 과적합을 방지하고 각 알고리즘의 특성을 극대화하기 위해 독립적인 학습 데이터를 구축했습니다.</a:t>
            </a:r>
            <a:endParaRPr sz="1200">
              <a:solidFill>
                <a:srgbClr val="47556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369A1"/>
                </a:solidFill>
                <a:highlight>
                  <a:srgbClr val="E0F2FE"/>
                </a:highlight>
              </a:rPr>
              <a:t>LightGBM</a:t>
            </a:r>
            <a:r>
              <a:rPr lang="en-US" sz="1200">
                <a:solidFill>
                  <a:srgbClr val="475569"/>
                </a:solidFill>
              </a:rPr>
              <a:t> </a:t>
            </a:r>
            <a:r>
              <a:rPr b="1" lang="en-US" sz="1200">
                <a:solidFill>
                  <a:srgbClr val="003366"/>
                </a:solidFill>
              </a:rPr>
              <a:t>FE-v1:</a:t>
            </a:r>
            <a:r>
              <a:rPr lang="en-US" sz="1200">
                <a:solidFill>
                  <a:srgbClr val="475569"/>
                </a:solidFill>
              </a:rPr>
              <a:t> 원본 피처 + Label Encoding</a:t>
            </a:r>
            <a:endParaRPr sz="1200">
              <a:solidFill>
                <a:srgbClr val="47556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854D0E"/>
                </a:solidFill>
                <a:highlight>
                  <a:srgbClr val="FEF08A"/>
                </a:highlight>
              </a:rPr>
              <a:t>CatBoost</a:t>
            </a:r>
            <a:r>
              <a:rPr lang="en-US" sz="1200">
                <a:solidFill>
                  <a:srgbClr val="475569"/>
                </a:solidFill>
              </a:rPr>
              <a:t> </a:t>
            </a:r>
            <a:r>
              <a:rPr b="1" lang="en-US" sz="1200">
                <a:solidFill>
                  <a:srgbClr val="003366"/>
                </a:solidFill>
              </a:rPr>
              <a:t>FE-v2:</a:t>
            </a:r>
            <a:r>
              <a:rPr lang="en-US" sz="1200">
                <a:solidFill>
                  <a:srgbClr val="475569"/>
                </a:solidFill>
              </a:rPr>
              <a:t> 원본 + Label + Target Encoding (공통)</a:t>
            </a:r>
            <a:endParaRPr sz="1200">
              <a:solidFill>
                <a:srgbClr val="47556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166534"/>
                </a:solidFill>
                <a:highlight>
                  <a:srgbClr val="DCFCE7"/>
                </a:highlight>
              </a:rPr>
              <a:t>XGBoost</a:t>
            </a:r>
            <a:r>
              <a:rPr lang="en-US" sz="1200">
                <a:solidFill>
                  <a:srgbClr val="475569"/>
                </a:solidFill>
              </a:rPr>
              <a:t> </a:t>
            </a:r>
            <a:r>
              <a:rPr b="1" lang="en-US" sz="1200">
                <a:solidFill>
                  <a:srgbClr val="003366"/>
                </a:solidFill>
              </a:rPr>
              <a:t>FE-v2+ITE:</a:t>
            </a:r>
            <a:r>
              <a:rPr lang="en-US" sz="1200">
                <a:solidFill>
                  <a:srgbClr val="475569"/>
                </a:solidFill>
              </a:rPr>
              <a:t> FE-v2 + ITE 10쌍 결합</a:t>
            </a:r>
            <a:endParaRPr sz="1200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결측치 처리 및 데이터 정규화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365755" y="987550"/>
            <a:ext cx="41178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05088"/>
                </a:solidFill>
              </a:rPr>
              <a:t>결측치 분포 차등 처리</a:t>
            </a:r>
            <a:endParaRPr b="1" sz="1800">
              <a:solidFill>
                <a:srgbClr val="005088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260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수치형 결측치:</a:t>
            </a:r>
            <a:r>
              <a:rPr lang="en-US" sz="1200">
                <a:solidFill>
                  <a:srgbClr val="475569"/>
                </a:solidFill>
              </a:rPr>
              <a:t> 중앙값(Median) 대체 또는 결측치 자체 유지</a:t>
            </a:r>
            <a:br>
              <a:rPr lang="en-US" sz="1200">
                <a:solidFill>
                  <a:srgbClr val="475569"/>
                </a:solidFill>
              </a:rPr>
            </a:br>
            <a:r>
              <a:rPr lang="en-US" sz="1200">
                <a:solidFill>
                  <a:srgbClr val="64748B"/>
                </a:solidFill>
              </a:rPr>
              <a:t>↳ 트리 기반 모델의 자체 결측 분기(Missing value handling) 기능 활용</a:t>
            </a:r>
            <a:endParaRPr sz="1200">
              <a:solidFill>
                <a:srgbClr val="64748B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범주형 결측치:</a:t>
            </a:r>
            <a:r>
              <a:rPr lang="en-US" sz="1200">
                <a:solidFill>
                  <a:srgbClr val="475569"/>
                </a:solidFill>
              </a:rPr>
              <a:t> 'Unknown' 문자열로 대체하여 독립적인 범주로 인코딩에 포함</a:t>
            </a:r>
            <a:endParaRPr sz="1200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4755855" y="996638"/>
            <a:ext cx="4117800" cy="38223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05088"/>
                </a:solidFill>
              </a:rPr>
              <a:t>스케일링 생략 및 자동 정규화</a:t>
            </a:r>
            <a:endParaRPr b="1" sz="1800">
              <a:solidFill>
                <a:srgbClr val="005088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260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스케일 무관성:</a:t>
            </a:r>
            <a:r>
              <a:rPr lang="en-US" sz="1200">
                <a:solidFill>
                  <a:srgbClr val="475569"/>
                </a:solidFill>
              </a:rPr>
              <a:t> 실험에 사용된 GBDT 계열 3종(LGB, CAT, XGB)은 분기 기반 알고리즘으로 피처 스케일에 영향을 받지 않아 별도의 정규화(Standardization) 미적용.</a:t>
            </a:r>
            <a:endParaRPr sz="1200">
              <a:solidFill>
                <a:srgbClr val="47556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TE의 자연 정규화:</a:t>
            </a:r>
            <a:r>
              <a:rPr lang="en-US" sz="1200">
                <a:solidFill>
                  <a:srgbClr val="475569"/>
                </a:solidFill>
              </a:rPr>
              <a:t> Target Encoding 결과값 자체가 타겟 성공 비율을 나타내므로 [0, 1] 범위로 자연스럽게 정규화됨.</a:t>
            </a:r>
            <a:endParaRPr sz="1200">
              <a:solidFill>
                <a:srgbClr val="475569"/>
              </a:solidFill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Char char="●"/>
            </a:pPr>
            <a:r>
              <a:rPr b="1" lang="en-US" sz="1200">
                <a:solidFill>
                  <a:srgbClr val="003366"/>
                </a:solidFill>
              </a:rPr>
              <a:t>순위 변환:</a:t>
            </a:r>
            <a:r>
              <a:rPr lang="en-US" sz="1200">
                <a:solidFill>
                  <a:srgbClr val="475569"/>
                </a:solidFill>
              </a:rPr>
              <a:t> 최종 Rank Average 앙상블 시, 각 모델의 예측 확률값을 순위(Rank) 기반으로 변환하여 스케일 격차 통일.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학습 데이터 구성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340360" y="955540"/>
            <a:ext cx="84126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971090" y="1958757"/>
            <a:ext cx="1644300" cy="1611600"/>
          </a:xfrm>
          <a:prstGeom prst="ellipse">
            <a:avLst/>
          </a:prstGeom>
          <a:solidFill>
            <a:srgbClr val="25B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Stratified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K-Fold</a:t>
            </a:r>
            <a:endParaRPr b="1" sz="2100">
              <a:solidFill>
                <a:schemeClr val="lt1"/>
              </a:solidFill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555900" y="3612150"/>
            <a:ext cx="21774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0B4A6"/>
                </a:solidFill>
              </a:rPr>
              <a:t>5-Fold</a:t>
            </a:r>
            <a:endParaRPr b="1" sz="1500">
              <a:solidFill>
                <a:srgbClr val="00B4A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75569"/>
                </a:solidFill>
                <a:highlight>
                  <a:srgbClr val="F8FAFC"/>
                </a:highlight>
              </a:rPr>
              <a:t>성공/실패 (2.87:1) 비율을</a:t>
            </a:r>
            <a:endParaRPr sz="1150">
              <a:solidFill>
                <a:srgbClr val="475569"/>
              </a:solidFill>
              <a:highlight>
                <a:srgbClr val="F8FAF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highlight>
                  <a:srgbClr val="F8FAFC"/>
                </a:highlight>
              </a:rPr>
              <a:t>모든 폴드에 동일하게 유지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511275" y="1543800"/>
            <a:ext cx="8221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</a:rPr>
              <a:t>클래스 불균형 문제를 해소하고, 타겟 인코딩 시 발생할 수 있는 데이터 누수(Leakage)를 원천 차단하기 위해 엄격한 검증 루프를 설계했습니다</a:t>
            </a:r>
            <a:endParaRPr sz="1100">
              <a:solidFill>
                <a:schemeClr val="dk1"/>
              </a:solidFill>
            </a:endParaRPr>
          </a:p>
          <a:p>
            <a:pPr indent="0" lvl="0" marL="241300" marR="241300" rtl="0" algn="ctr">
              <a:spcBef>
                <a:spcPts val="1500"/>
              </a:spcBef>
              <a:spcAft>
                <a:spcPts val="5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3067400" y="3616640"/>
            <a:ext cx="25059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0B4A6"/>
                </a:solidFill>
              </a:rPr>
              <a:t>Strict Encoding</a:t>
            </a:r>
            <a:endParaRPr b="1" sz="1500">
              <a:solidFill>
                <a:srgbClr val="00B4A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75569"/>
                </a:solidFill>
                <a:highlight>
                  <a:srgbClr val="F8FAFC"/>
                </a:highlight>
              </a:rPr>
              <a:t>검증 폴드의 타겟 정보 누수 방지를 위해</a:t>
            </a:r>
            <a:endParaRPr sz="1150">
              <a:solidFill>
                <a:srgbClr val="475569"/>
              </a:solidFill>
              <a:highlight>
                <a:srgbClr val="F8FAF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highlight>
                  <a:srgbClr val="F8FAFC"/>
                </a:highlight>
              </a:rPr>
              <a:t>반드시 내부 Train 폴드로만 TE 계산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5907400" y="3632410"/>
            <a:ext cx="24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0B4A6"/>
                </a:solidFill>
              </a:rPr>
              <a:t>Out-of-Fold</a:t>
            </a:r>
            <a:endParaRPr b="1" sz="1500">
              <a:solidFill>
                <a:srgbClr val="00B4A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75569"/>
                </a:solidFill>
                <a:highlight>
                  <a:srgbClr val="F8FAFC"/>
                </a:highlight>
              </a:rPr>
              <a:t>각 폴드의 예측을 결합하여</a:t>
            </a:r>
            <a:endParaRPr sz="1150">
              <a:solidFill>
                <a:srgbClr val="475569"/>
              </a:solidFill>
              <a:highlight>
                <a:srgbClr val="F8FAF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highlight>
                  <a:srgbClr val="F8FAFC"/>
                </a:highlight>
              </a:rPr>
              <a:t>전체 데이터에 대한 비편향 예측 산출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2979465" y="2699682"/>
            <a:ext cx="56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CBD5E1"/>
                </a:solidFill>
              </a:rPr>
              <a:t>→</a:t>
            </a:r>
            <a:endParaRPr/>
          </a:p>
        </p:txBody>
      </p:sp>
      <p:sp>
        <p:nvSpPr>
          <p:cNvPr id="389" name="Google Shape;389;p12"/>
          <p:cNvSpPr txBox="1"/>
          <p:nvPr/>
        </p:nvSpPr>
        <p:spPr>
          <a:xfrm>
            <a:off x="5542165" y="2666382"/>
            <a:ext cx="56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BD5E1"/>
                </a:solidFill>
              </a:rPr>
              <a:t>→</a:t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3616265" y="1958757"/>
            <a:ext cx="1644300" cy="1611900"/>
          </a:xfrm>
          <a:prstGeom prst="ellipse">
            <a:avLst/>
          </a:prstGeom>
          <a:solidFill>
            <a:srgbClr val="00B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Fold-wise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TE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389240" y="1979332"/>
            <a:ext cx="1644300" cy="1611900"/>
          </a:xfrm>
          <a:prstGeom prst="ellipse">
            <a:avLst/>
          </a:prstGeom>
          <a:solidFill>
            <a:srgbClr val="00B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OOF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Predict</a:t>
            </a:r>
            <a:endParaRPr b="1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-274320" y="54864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2011680" y="822960"/>
            <a:ext cx="5120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2011680" y="822960"/>
            <a:ext cx="91440" cy="3200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2834640" y="1188720"/>
            <a:ext cx="914400" cy="914400"/>
          </a:xfrm>
          <a:prstGeom prst="ellipse">
            <a:avLst/>
          </a:prstGeom>
          <a:solidFill>
            <a:srgbClr val="E0F5F3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232" y="13533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4"/>
          <p:cNvSpPr/>
          <p:nvPr/>
        </p:nvSpPr>
        <p:spPr>
          <a:xfrm>
            <a:off x="393192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S E C T I O N  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3931920" y="1572768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3931920" y="2331720"/>
            <a:ext cx="914400" cy="4572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3931920" y="24871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Modeling &amp;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모델 아키텍쳐 설계 -3모델 앙상블(</a:t>
            </a: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하이퍼파라미터 튜닝)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내용을 입력하세요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347472" y="987552"/>
            <a:ext cx="2651700" cy="457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457200" y="1005840"/>
            <a:ext cx="242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457200" y="1261872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피처: FE-v1 (기본 파생변수)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347472" y="987552"/>
            <a:ext cx="2651700" cy="38772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347472" y="987552"/>
            <a:ext cx="2651700" cy="457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457200" y="1005840"/>
            <a:ext cx="242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457200" y="1261872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피처: FE-v1 (기본 파생변수)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457200" y="1536192"/>
            <a:ext cx="242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Optuna 튜닝 파라미터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512064" y="1938528"/>
            <a:ext cx="91500" cy="915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658368" y="1865376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learning_rate: 0.0354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512064" y="2286000"/>
            <a:ext cx="91500" cy="915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658368" y="2212848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num_leaves: 266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512064" y="2633472"/>
            <a:ext cx="91500" cy="915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658368" y="2560320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max_depth: 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512064" y="2980944"/>
            <a:ext cx="91500" cy="915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658368" y="2907792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min_child_samples: 166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12064" y="3328416"/>
            <a:ext cx="91500" cy="915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658368" y="3255264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feature_fraction: 0.535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512064" y="3675888"/>
            <a:ext cx="91500" cy="915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658368" y="3602736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is_unbalance: True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3218688" y="987552"/>
            <a:ext cx="2651700" cy="38772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3218688" y="987552"/>
            <a:ext cx="2651700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3328416" y="1005840"/>
            <a:ext cx="242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3328416" y="1261872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피처: FE-v2 + Target Encoding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3328416" y="1536192"/>
            <a:ext cx="242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Optuna 튜닝 파라미터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3383280" y="1938528"/>
            <a:ext cx="91500" cy="915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3529584" y="1865376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iterations: 2000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3383280" y="2286000"/>
            <a:ext cx="91500" cy="915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3529584" y="2212848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loss_function: Logloss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3383280" y="2633472"/>
            <a:ext cx="91500" cy="915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3529584" y="2560320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eval_metric: AUC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3383280" y="2980944"/>
            <a:ext cx="91500" cy="915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3529584" y="2907792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auto_class_weights: Balanced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3383280" y="3328416"/>
            <a:ext cx="91500" cy="915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3529584" y="3255264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early_stopping_round: 100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089904" y="987552"/>
            <a:ext cx="2651700" cy="38772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6089904" y="987552"/>
            <a:ext cx="2651700" cy="4572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6199632" y="1005840"/>
            <a:ext cx="242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199632" y="1261872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피처: FE-v2 + TE + ITE (상호작용)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6199632" y="1536192"/>
            <a:ext cx="242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Optuna 튜닝 파라미터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6254496" y="1938528"/>
            <a:ext cx="91500" cy="915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6400800" y="1865376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learning_rate: 0.05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6254496" y="2286000"/>
            <a:ext cx="91500" cy="915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6400800" y="2212848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max_depth: 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6254496" y="2633472"/>
            <a:ext cx="91500" cy="915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6400800" y="2560320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n_estimators: 1000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254496" y="2980944"/>
            <a:ext cx="91500" cy="915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6400800" y="2907792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eval_metric: auc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6254496" y="3328416"/>
            <a:ext cx="91500" cy="915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6400800" y="3255264"/>
            <a:ext cx="221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early_stopping_rounds: 50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7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7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손실 함수</a:t>
            </a: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 최적화 기법</a:t>
            </a: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 · 학습 전략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"/>
          <p:cNvSpPr/>
          <p:nvPr/>
        </p:nvSpPr>
        <p:spPr>
          <a:xfrm>
            <a:off x="365760" y="987552"/>
            <a:ext cx="4023300" cy="38406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502920" y="1060704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손실 함수 &amp; 평가 지표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502920" y="1444752"/>
            <a:ext cx="3749100" cy="54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502920" y="1444752"/>
            <a:ext cx="457200" cy="5487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7"/>
          <p:cNvSpPr/>
          <p:nvPr/>
        </p:nvSpPr>
        <p:spPr>
          <a:xfrm>
            <a:off x="502920" y="1444752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LGB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1042416" y="1499616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손실: binary (logloss)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1042416" y="1719072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평가: AUC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02920" y="2103120"/>
            <a:ext cx="3749100" cy="54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7"/>
          <p:cNvSpPr/>
          <p:nvPr/>
        </p:nvSpPr>
        <p:spPr>
          <a:xfrm>
            <a:off x="502920" y="2103120"/>
            <a:ext cx="457200" cy="5487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502920" y="2103120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1042416" y="2157984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손실: Logloss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1042416" y="2377440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평가: AUC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502920" y="2761488"/>
            <a:ext cx="3749100" cy="54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502920" y="2761488"/>
            <a:ext cx="457200" cy="5487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502920" y="2761488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1042416" y="2816352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손실: binary:logistic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1042416" y="3035808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평가: </a:t>
            </a:r>
            <a:r>
              <a:rPr lang="en-US" sz="10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502920" y="3529584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Rank Average (앙상블)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02920" y="3803904"/>
            <a:ext cx="374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단조 변환에 AUC 불변 → 정규화 불필요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30개 OOF 예측값의 rank 평균 → Min</a:t>
            </a:r>
            <a:r>
              <a:rPr lang="en-US" sz="9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-Max 정규화  → </a:t>
            </a: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최종 예측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4572000" y="987552"/>
            <a:ext cx="4206300" cy="38406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4709160" y="106070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Optuna 하이퍼파라미터 튜닝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4709160" y="1444752"/>
            <a:ext cx="3840600" cy="64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4709160" y="1444752"/>
            <a:ext cx="63900" cy="640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4846320" y="1499616"/>
            <a:ext cx="356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탐색 전략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4846320" y="1755648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TPE Sampler (Tree-structured Parzen Estimator)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4709160" y="2194560"/>
            <a:ext cx="3840600" cy="64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7"/>
          <p:cNvSpPr/>
          <p:nvPr/>
        </p:nvSpPr>
        <p:spPr>
          <a:xfrm>
            <a:off x="4709160" y="2194560"/>
            <a:ext cx="63900" cy="640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4846320" y="2249424"/>
            <a:ext cx="356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조기 종료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4846320" y="250545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Early Stopping으로 과적합 방지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4709160" y="2944368"/>
            <a:ext cx="3840600" cy="64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7"/>
          <p:cNvSpPr/>
          <p:nvPr/>
        </p:nvSpPr>
        <p:spPr>
          <a:xfrm>
            <a:off x="4709160" y="2944368"/>
            <a:ext cx="63900" cy="640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4846320" y="2999232"/>
            <a:ext cx="356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LGB/CAT/XGB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4846320" y="3255264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각 모델 독립적으로 Optuna 50~200 trials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4709160" y="3694176"/>
            <a:ext cx="3840600" cy="64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>
            <a:off x="4709160" y="3694176"/>
            <a:ext cx="63900" cy="640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4846320" y="3749040"/>
            <a:ext cx="356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검증 방식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4846320" y="4005072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5-Fold OOF AUC 기준으로 최적 파라미터 선택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8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8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8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Multi-seed 앙상블 학습 전략</a:t>
            </a:r>
            <a:endParaRPr b="1" sz="2000">
              <a:solidFill>
                <a:srgbClr val="1A2E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365760" y="996690"/>
            <a:ext cx="84126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365760" y="100584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EXP-040 최종 앙상블 구조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365760" y="1389888"/>
            <a:ext cx="100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10 Seeds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1481328" y="1389888"/>
            <a:ext cx="621900" cy="347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"/>
          <p:cNvSpPr/>
          <p:nvPr/>
        </p:nvSpPr>
        <p:spPr>
          <a:xfrm>
            <a:off x="148132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2212848" y="1389888"/>
            <a:ext cx="621900" cy="347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8"/>
          <p:cNvSpPr/>
          <p:nvPr/>
        </p:nvSpPr>
        <p:spPr>
          <a:xfrm>
            <a:off x="221284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2944368" y="1389888"/>
            <a:ext cx="621900" cy="347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294436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3675888" y="1389888"/>
            <a:ext cx="621900" cy="347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8"/>
          <p:cNvSpPr/>
          <p:nvPr/>
        </p:nvSpPr>
        <p:spPr>
          <a:xfrm>
            <a:off x="367588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4407408" y="1389888"/>
            <a:ext cx="621900" cy="347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440740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777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5138928" y="1389888"/>
            <a:ext cx="621900" cy="3474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513892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999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5870448" y="1389888"/>
            <a:ext cx="621900" cy="3474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587044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314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6601968" y="1389888"/>
            <a:ext cx="621900" cy="3474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660196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1234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7333488" y="1389888"/>
            <a:ext cx="621900" cy="3474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733348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5678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8065008" y="1389888"/>
            <a:ext cx="621900" cy="3474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8065008" y="1389888"/>
            <a:ext cx="62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365760" y="1938528"/>
            <a:ext cx="1005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× 3 Models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1481328" y="3127248"/>
            <a:ext cx="6400800" cy="3840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1572768" y="3145536"/>
            <a:ext cx="6217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 Average  →  30모델 최종 앙상블 (OOF AUC: 0.74091 / 리더보드: 0.74223)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365760" y="3657600"/>
            <a:ext cx="8412600" cy="11886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502920" y="3730752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Seed 확장 효과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1371600" y="3712464"/>
            <a:ext cx="2286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1463040" y="3767328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1 seed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(EXP-032)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1463040" y="4133088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0.74071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1463040" y="4407408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기준선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3931920" y="3712464"/>
            <a:ext cx="2286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4023360" y="3767328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5 seeds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(EXP-038)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4023360" y="4133088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0.74090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4023360" y="4407408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+0.00019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6492240" y="3712464"/>
            <a:ext cx="2286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6583680" y="3767328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10 seeds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(EXP-040)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6583680" y="4133088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0.74091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6583680" y="4407408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+0.00001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466395" y="4649861"/>
            <a:ext cx="411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수확 체감: 1→5 seeds가 가장 큰 개선, 5→10은 미미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1481328" y="1938528"/>
            <a:ext cx="6400800" cy="2925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1572768" y="1975104"/>
            <a:ext cx="621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LightGBM (10 seeds × 5 folds = 50 models)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1481328" y="2304288"/>
            <a:ext cx="6400800" cy="2925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1572768" y="2340864"/>
            <a:ext cx="621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CatBoost (10 seeds × 5 folds = 50 models)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1481328" y="2670048"/>
            <a:ext cx="6400800" cy="2925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1572768" y="2706624"/>
            <a:ext cx="621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XGBoost (10 seeds × 5 folds = 50 models)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0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0"/>
          <p:cNvSpPr/>
          <p:nvPr/>
        </p:nvSpPr>
        <p:spPr>
          <a:xfrm>
            <a:off x="0" y="73080"/>
            <a:ext cx="9143700" cy="712800"/>
          </a:xfrm>
          <a:prstGeom prst="rect">
            <a:avLst/>
          </a:prstGeom>
          <a:solidFill>
            <a:srgbClr val="E0F5F3"/>
          </a:solidFill>
          <a:ln cap="flat" cmpd="sng" w="126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365760" y="118800"/>
            <a:ext cx="63600" cy="621300"/>
          </a:xfrm>
          <a:prstGeom prst="rect">
            <a:avLst/>
          </a:prstGeom>
          <a:solidFill>
            <a:srgbClr val="00B4A6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567000" y="164520"/>
            <a:ext cx="7772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베이스라인 &amp; 초기 탐색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365760" y="987480"/>
            <a:ext cx="8412000" cy="310200"/>
          </a:xfrm>
          <a:prstGeom prst="rect">
            <a:avLst/>
          </a:prstGeom>
          <a:solidFill>
            <a:srgbClr val="00B4A6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502920" y="987480"/>
            <a:ext cx="11883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1783080" y="987480"/>
            <a:ext cx="4434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변경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6309360" y="987480"/>
            <a:ext cx="599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6950160" y="987480"/>
            <a:ext cx="949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OOF AUC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7949880" y="987480"/>
            <a:ext cx="949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LB AUC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365760" y="1341720"/>
            <a:ext cx="8412000" cy="414600"/>
          </a:xfrm>
          <a:prstGeom prst="rect">
            <a:avLst/>
          </a:prstGeom>
          <a:solidFill>
            <a:srgbClr val="F7FAFB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502920" y="1341720"/>
            <a:ext cx="1188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베이스라인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1783080" y="1341720"/>
            <a:ext cx="4434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기본 LR, 결측/불균형 분석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6309360" y="1341720"/>
            <a:ext cx="599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LR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6950160" y="134172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~0.699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7949880" y="134172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365760" y="1756440"/>
            <a:ext cx="8412000" cy="4146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502920" y="1756440"/>
            <a:ext cx="1188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베이스라인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1783080" y="1756440"/>
            <a:ext cx="4434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고결측 컬럼 제거, 기본 RF 학습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6309360" y="1756440"/>
            <a:ext cx="599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RF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6950160" y="175644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0.7301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7949880" y="175644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0.73303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365760" y="2171520"/>
            <a:ext cx="8412000" cy="414600"/>
          </a:xfrm>
          <a:prstGeom prst="rect">
            <a:avLst/>
          </a:prstGeom>
          <a:solidFill>
            <a:srgbClr val="F7FAFB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502920" y="2171520"/>
            <a:ext cx="1188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베이스라인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1783080" y="2171520"/>
            <a:ext cx="4434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전체 67피처, 순서형/명목형/멀티핫 인코딩, is_unbalance=True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6309360" y="2171520"/>
            <a:ext cx="599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LGB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6950160" y="217152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0.73887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7949880" y="217152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0.74126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365760" y="2586600"/>
            <a:ext cx="8412000" cy="414600"/>
          </a:xfrm>
          <a:prstGeom prst="rect">
            <a:avLst/>
          </a:prstGeom>
          <a:solidFill>
            <a:srgbClr val="FFF8EE"/>
          </a:solidFill>
          <a:ln cap="flat" cmpd="sng" w="126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502920" y="2586600"/>
            <a:ext cx="1188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⚠ 피처 엔지니어링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1783080" y="2586600"/>
            <a:ext cx="4434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파생변수 12개, log1p, Top 30 피처 스윕 → 과적합 발생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6309360" y="2586600"/>
            <a:ext cx="599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RF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6950160" y="258660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0.7493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7949880" y="258660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0.7384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365760" y="3001680"/>
            <a:ext cx="8412000" cy="4146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502920" y="3001680"/>
            <a:ext cx="1188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단일 모델 비교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1783080" y="3001680"/>
            <a:ext cx="4434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CAT / XGB 각각 단독 학습 → 앙상블 후보 확정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6309360" y="3001680"/>
            <a:ext cx="599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CAT/XGB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6950160" y="300168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0.74003/0.74016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7949880" y="3001680"/>
            <a:ext cx="949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365760" y="4246895"/>
            <a:ext cx="8412000" cy="379800"/>
          </a:xfrm>
          <a:prstGeom prst="rect">
            <a:avLst/>
          </a:prstGeom>
          <a:solidFill>
            <a:srgbClr val="FFF3E0"/>
          </a:solidFill>
          <a:ln cap="flat" cmpd="sng" w="19075">
            <a:solidFill>
              <a:srgbClr val="E0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453295" y="4246895"/>
            <a:ext cx="7999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⚠ V5 과적합 → 전략 전환 계기: </a:t>
            </a:r>
            <a:r>
              <a:rPr b="0" lang="en-US" sz="850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OOF 0.7493 대비 리더보드 0.7384, -0.011 괴리 → Hold-out 검증 한계 확인 → OOF 5-fold 전환 + 모델 다양성 전략으로 선회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69c578ed5_0_673"/>
          <p:cNvSpPr/>
          <p:nvPr/>
        </p:nvSpPr>
        <p:spPr>
          <a:xfrm>
            <a:off x="0" y="0"/>
            <a:ext cx="9143700" cy="72600"/>
          </a:xfrm>
          <a:prstGeom prst="rect">
            <a:avLst/>
          </a:prstGeom>
          <a:solidFill>
            <a:srgbClr val="00B4A6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e69c578ed5_0_673"/>
          <p:cNvSpPr/>
          <p:nvPr/>
        </p:nvSpPr>
        <p:spPr>
          <a:xfrm>
            <a:off x="0" y="73080"/>
            <a:ext cx="9143700" cy="712800"/>
          </a:xfrm>
          <a:prstGeom prst="rect">
            <a:avLst/>
          </a:prstGeom>
          <a:solidFill>
            <a:srgbClr val="E0F5F3"/>
          </a:solidFill>
          <a:ln cap="flat" cmpd="sng" w="126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e69c578ed5_0_673"/>
          <p:cNvSpPr/>
          <p:nvPr/>
        </p:nvSpPr>
        <p:spPr>
          <a:xfrm>
            <a:off x="365760" y="118800"/>
            <a:ext cx="63600" cy="621300"/>
          </a:xfrm>
          <a:prstGeom prst="rect">
            <a:avLst/>
          </a:prstGeom>
          <a:solidFill>
            <a:srgbClr val="00B4A6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e69c578ed5_0_673"/>
          <p:cNvSpPr/>
          <p:nvPr/>
        </p:nvSpPr>
        <p:spPr>
          <a:xfrm>
            <a:off x="567000" y="164520"/>
            <a:ext cx="7772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개선 전략 &amp; 최종 제출   |   0.73 → 0.74223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e69c578ed5_0_673"/>
          <p:cNvSpPr/>
          <p:nvPr/>
        </p:nvSpPr>
        <p:spPr>
          <a:xfrm>
            <a:off x="0" y="5029200"/>
            <a:ext cx="9143700" cy="27000"/>
          </a:xfrm>
          <a:prstGeom prst="rect">
            <a:avLst/>
          </a:prstGeom>
          <a:solidFill>
            <a:srgbClr val="00B4A6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e69c578ed5_0_673"/>
          <p:cNvSpPr/>
          <p:nvPr/>
        </p:nvSpPr>
        <p:spPr>
          <a:xfrm>
            <a:off x="365760" y="987480"/>
            <a:ext cx="8412000" cy="310200"/>
          </a:xfrm>
          <a:prstGeom prst="rect">
            <a:avLst/>
          </a:prstGeom>
          <a:solidFill>
            <a:srgbClr val="00B4A6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e69c578ed5_0_673"/>
          <p:cNvSpPr/>
          <p:nvPr/>
        </p:nvSpPr>
        <p:spPr>
          <a:xfrm>
            <a:off x="502920" y="987480"/>
            <a:ext cx="11883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e69c578ed5_0_673"/>
          <p:cNvSpPr/>
          <p:nvPr/>
        </p:nvSpPr>
        <p:spPr>
          <a:xfrm>
            <a:off x="1783080" y="987480"/>
            <a:ext cx="4434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변경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e69c578ed5_0_673"/>
          <p:cNvSpPr/>
          <p:nvPr/>
        </p:nvSpPr>
        <p:spPr>
          <a:xfrm>
            <a:off x="6309360" y="987480"/>
            <a:ext cx="599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e69c578ed5_0_673"/>
          <p:cNvSpPr/>
          <p:nvPr/>
        </p:nvSpPr>
        <p:spPr>
          <a:xfrm>
            <a:off x="6950160" y="987480"/>
            <a:ext cx="949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OOF AUC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e69c578ed5_0_673"/>
          <p:cNvSpPr/>
          <p:nvPr/>
        </p:nvSpPr>
        <p:spPr>
          <a:xfrm>
            <a:off x="7949880" y="987480"/>
            <a:ext cx="949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LB AUC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e69c578ed5_0_673"/>
          <p:cNvSpPr/>
          <p:nvPr/>
        </p:nvSpPr>
        <p:spPr>
          <a:xfrm>
            <a:off x="365760" y="1341720"/>
            <a:ext cx="8412000" cy="3297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e69c578ed5_0_673"/>
          <p:cNvSpPr/>
          <p:nvPr/>
        </p:nvSpPr>
        <p:spPr>
          <a:xfrm>
            <a:off x="502920" y="134172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모델 전환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e69c578ed5_0_673"/>
          <p:cNvSpPr/>
          <p:nvPr/>
        </p:nvSpPr>
        <p:spPr>
          <a:xfrm>
            <a:off x="1783080" y="134172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RF → LGB + Optuna, Hold-out → OOF 5-fold 전환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e69c578ed5_0_673"/>
          <p:cNvSpPr/>
          <p:nvPr/>
        </p:nvSpPr>
        <p:spPr>
          <a:xfrm>
            <a:off x="6309360" y="134172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LGB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e69c578ed5_0_673"/>
          <p:cNvSpPr/>
          <p:nvPr/>
        </p:nvSpPr>
        <p:spPr>
          <a:xfrm>
            <a:off x="6950160" y="134172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0.7372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e69c578ed5_0_673"/>
          <p:cNvSpPr/>
          <p:nvPr/>
        </p:nvSpPr>
        <p:spPr>
          <a:xfrm>
            <a:off x="7949880" y="134172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e69c578ed5_0_673"/>
          <p:cNvSpPr/>
          <p:nvPr/>
        </p:nvSpPr>
        <p:spPr>
          <a:xfrm>
            <a:off x="365760" y="1671480"/>
            <a:ext cx="8412000" cy="329700"/>
          </a:xfrm>
          <a:prstGeom prst="rect">
            <a:avLst/>
          </a:prstGeom>
          <a:solidFill>
            <a:srgbClr val="F7FAFB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e69c578ed5_0_673"/>
          <p:cNvSpPr/>
          <p:nvPr/>
        </p:nvSpPr>
        <p:spPr>
          <a:xfrm>
            <a:off x="502920" y="167148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★ 앙상블 도입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e69c578ed5_0_673"/>
          <p:cNvSpPr/>
          <p:nvPr/>
        </p:nvSpPr>
        <p:spPr>
          <a:xfrm>
            <a:off x="1783080" y="167148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LGB+CAT+XGB 3모델, Optuna 가중치 최적화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e69c578ed5_0_673"/>
          <p:cNvSpPr/>
          <p:nvPr/>
        </p:nvSpPr>
        <p:spPr>
          <a:xfrm>
            <a:off x="6309360" y="167148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앙상블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e69c578ed5_0_673"/>
          <p:cNvSpPr/>
          <p:nvPr/>
        </p:nvSpPr>
        <p:spPr>
          <a:xfrm>
            <a:off x="6950160" y="167148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0.7374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e69c578ed5_0_673"/>
          <p:cNvSpPr/>
          <p:nvPr/>
        </p:nvSpPr>
        <p:spPr>
          <a:xfrm>
            <a:off x="7949880" y="167148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0.7413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e69c578ed5_0_673"/>
          <p:cNvSpPr/>
          <p:nvPr/>
        </p:nvSpPr>
        <p:spPr>
          <a:xfrm>
            <a:off x="365760" y="2001600"/>
            <a:ext cx="8412000" cy="329700"/>
          </a:xfrm>
          <a:prstGeom prst="rect">
            <a:avLst/>
          </a:prstGeom>
          <a:solidFill>
            <a:srgbClr val="F0FAF6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e69c578ed5_0_673"/>
          <p:cNvSpPr/>
          <p:nvPr/>
        </p:nvSpPr>
        <p:spPr>
          <a:xfrm>
            <a:off x="502920" y="200160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★ Leakage 제거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e69c578ed5_0_673"/>
          <p:cNvSpPr/>
          <p:nvPr/>
        </p:nvSpPr>
        <p:spPr>
          <a:xfrm>
            <a:off x="1783080" y="200160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공통 preprocessing.py 도입, train/test 완전 분리 → 성능 안정화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g3e69c578ed5_0_673"/>
          <p:cNvSpPr/>
          <p:nvPr/>
        </p:nvSpPr>
        <p:spPr>
          <a:xfrm>
            <a:off x="6309360" y="200160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e69c578ed5_0_673"/>
          <p:cNvSpPr/>
          <p:nvPr/>
        </p:nvSpPr>
        <p:spPr>
          <a:xfrm>
            <a:off x="6950160" y="200160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0.7400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e69c578ed5_0_673"/>
          <p:cNvSpPr/>
          <p:nvPr/>
        </p:nvSpPr>
        <p:spPr>
          <a:xfrm>
            <a:off x="7949880" y="200160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0.7408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e69c578ed5_0_673"/>
          <p:cNvSpPr/>
          <p:nvPr/>
        </p:nvSpPr>
        <p:spPr>
          <a:xfrm>
            <a:off x="365760" y="2331720"/>
            <a:ext cx="8412000" cy="329700"/>
          </a:xfrm>
          <a:prstGeom prst="rect">
            <a:avLst/>
          </a:prstGeom>
          <a:solidFill>
            <a:srgbClr val="F7FAFB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e69c578ed5_0_673"/>
          <p:cNvSpPr/>
          <p:nvPr/>
        </p:nvSpPr>
        <p:spPr>
          <a:xfrm>
            <a:off x="502920" y="233172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★ 하이퍼파라미터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e69c578ed5_0_673"/>
          <p:cNvSpPr/>
          <p:nvPr/>
        </p:nvSpPr>
        <p:spPr>
          <a:xfrm>
            <a:off x="1783080" y="233172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3모델 전부 Optuna 재튜닝 (102 피처)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e69c578ed5_0_673"/>
          <p:cNvSpPr/>
          <p:nvPr/>
        </p:nvSpPr>
        <p:spPr>
          <a:xfrm>
            <a:off x="6309360" y="233172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앙상블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e69c578ed5_0_673"/>
          <p:cNvSpPr/>
          <p:nvPr/>
        </p:nvSpPr>
        <p:spPr>
          <a:xfrm>
            <a:off x="6950160" y="233172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0.74025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e69c578ed5_0_673"/>
          <p:cNvSpPr/>
          <p:nvPr/>
        </p:nvSpPr>
        <p:spPr>
          <a:xfrm>
            <a:off x="7949880" y="233172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0.74169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e69c578ed5_0_673"/>
          <p:cNvSpPr/>
          <p:nvPr/>
        </p:nvSpPr>
        <p:spPr>
          <a:xfrm>
            <a:off x="365760" y="2661480"/>
            <a:ext cx="8412000" cy="3297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e69c578ed5_0_673"/>
          <p:cNvSpPr/>
          <p:nvPr/>
        </p:nvSpPr>
        <p:spPr>
          <a:xfrm>
            <a:off x="502920" y="266148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팀 튜닝 공유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e69c578ed5_0_673"/>
          <p:cNvSpPr/>
          <p:nvPr/>
        </p:nvSpPr>
        <p:spPr>
          <a:xfrm>
            <a:off x="1783080" y="266148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CAT/XGB/LGB Optuna 튜닝 후 파라미터 통합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e69c578ed5_0_673"/>
          <p:cNvSpPr/>
          <p:nvPr/>
        </p:nvSpPr>
        <p:spPr>
          <a:xfrm>
            <a:off x="6309360" y="266148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앙상블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e69c578ed5_0_673"/>
          <p:cNvSpPr/>
          <p:nvPr/>
        </p:nvSpPr>
        <p:spPr>
          <a:xfrm>
            <a:off x="6950160" y="266148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0.74063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e69c578ed5_0_673"/>
          <p:cNvSpPr/>
          <p:nvPr/>
        </p:nvSpPr>
        <p:spPr>
          <a:xfrm>
            <a:off x="7949880" y="266148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e69c578ed5_0_673"/>
          <p:cNvSpPr/>
          <p:nvPr/>
        </p:nvSpPr>
        <p:spPr>
          <a:xfrm>
            <a:off x="365760" y="2991600"/>
            <a:ext cx="8412000" cy="329700"/>
          </a:xfrm>
          <a:prstGeom prst="rect">
            <a:avLst/>
          </a:prstGeom>
          <a:solidFill>
            <a:srgbClr val="FFF8EE"/>
          </a:solidFill>
          <a:ln cap="flat" cmpd="sng" w="126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e69c578ed5_0_673"/>
          <p:cNvSpPr/>
          <p:nvPr/>
        </p:nvSpPr>
        <p:spPr>
          <a:xfrm>
            <a:off x="502920" y="299160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⚠ 앙상블 실패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e69c578ed5_0_673"/>
          <p:cNvSpPr/>
          <p:nvPr/>
        </p:nvSpPr>
        <p:spPr>
          <a:xfrm>
            <a:off x="1783080" y="299160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CAT+XGB+외부 submission → 상관관계 0.989, 오히려 하락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e69c578ed5_0_673"/>
          <p:cNvSpPr/>
          <p:nvPr/>
        </p:nvSpPr>
        <p:spPr>
          <a:xfrm>
            <a:off x="6309360" y="299160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앙상블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e69c578ed5_0_673"/>
          <p:cNvSpPr/>
          <p:nvPr/>
        </p:nvSpPr>
        <p:spPr>
          <a:xfrm>
            <a:off x="6950160" y="299160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0.74006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e69c578ed5_0_673"/>
          <p:cNvSpPr/>
          <p:nvPr/>
        </p:nvSpPr>
        <p:spPr>
          <a:xfrm>
            <a:off x="7949880" y="299160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0.73767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e69c578ed5_0_673"/>
          <p:cNvSpPr/>
          <p:nvPr/>
        </p:nvSpPr>
        <p:spPr>
          <a:xfrm>
            <a:off x="365760" y="3321720"/>
            <a:ext cx="8412000" cy="329700"/>
          </a:xfrm>
          <a:prstGeom prst="rect">
            <a:avLst/>
          </a:prstGeom>
          <a:solidFill>
            <a:srgbClr val="F7FAFB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e69c578ed5_0_673"/>
          <p:cNvSpPr/>
          <p:nvPr/>
        </p:nvSpPr>
        <p:spPr>
          <a:xfrm>
            <a:off x="502920" y="332172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★ 피처 다양성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e69c578ed5_0_673"/>
          <p:cNvSpPr/>
          <p:nvPr/>
        </p:nvSpPr>
        <p:spPr>
          <a:xfrm>
            <a:off x="1783080" y="332172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모델별 피처셋 분리 + fold-wise TE + ITE 조합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e69c578ed5_0_673"/>
          <p:cNvSpPr/>
          <p:nvPr/>
        </p:nvSpPr>
        <p:spPr>
          <a:xfrm>
            <a:off x="6309360" y="332172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앙상블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e69c578ed5_0_673"/>
          <p:cNvSpPr/>
          <p:nvPr/>
        </p:nvSpPr>
        <p:spPr>
          <a:xfrm>
            <a:off x="6950160" y="332172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0.74037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e69c578ed5_0_673"/>
          <p:cNvSpPr/>
          <p:nvPr/>
        </p:nvSpPr>
        <p:spPr>
          <a:xfrm>
            <a:off x="7949880" y="332172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0.74170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e69c578ed5_0_673"/>
          <p:cNvSpPr/>
          <p:nvPr/>
        </p:nvSpPr>
        <p:spPr>
          <a:xfrm>
            <a:off x="365760" y="3651480"/>
            <a:ext cx="8412000" cy="3297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e69c578ed5_0_673"/>
          <p:cNvSpPr/>
          <p:nvPr/>
        </p:nvSpPr>
        <p:spPr>
          <a:xfrm>
            <a:off x="502920" y="365148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멀티 시드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e69c578ed5_0_673"/>
          <p:cNvSpPr/>
          <p:nvPr/>
        </p:nvSpPr>
        <p:spPr>
          <a:xfrm>
            <a:off x="1783080" y="365148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EXP-032 × 5 seeds = 15모델 Rank Average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e69c578ed5_0_673"/>
          <p:cNvSpPr/>
          <p:nvPr/>
        </p:nvSpPr>
        <p:spPr>
          <a:xfrm>
            <a:off x="6309360" y="365148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앙상블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e69c578ed5_0_673"/>
          <p:cNvSpPr/>
          <p:nvPr/>
        </p:nvSpPr>
        <p:spPr>
          <a:xfrm>
            <a:off x="6950160" y="365148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0.74090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e69c578ed5_0_673"/>
          <p:cNvSpPr/>
          <p:nvPr/>
        </p:nvSpPr>
        <p:spPr>
          <a:xfrm>
            <a:off x="7949880" y="365148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3e69c578ed5_0_673"/>
          <p:cNvSpPr/>
          <p:nvPr/>
        </p:nvSpPr>
        <p:spPr>
          <a:xfrm>
            <a:off x="365760" y="3981600"/>
            <a:ext cx="8412000" cy="329700"/>
          </a:xfrm>
          <a:prstGeom prst="rect">
            <a:avLst/>
          </a:prstGeom>
          <a:solidFill>
            <a:srgbClr val="E0F5F3"/>
          </a:solidFill>
          <a:ln cap="flat" cmpd="sng" w="12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3e69c578ed5_0_673"/>
          <p:cNvSpPr/>
          <p:nvPr/>
        </p:nvSpPr>
        <p:spPr>
          <a:xfrm>
            <a:off x="502920" y="3981600"/>
            <a:ext cx="1188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★ 최종 제출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e69c578ed5_0_673"/>
          <p:cNvSpPr/>
          <p:nvPr/>
        </p:nvSpPr>
        <p:spPr>
          <a:xfrm>
            <a:off x="1783080" y="3981600"/>
            <a:ext cx="4434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EXP-032 × 10 seeds = 30모델 Rank Average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e69c578ed5_0_673"/>
          <p:cNvSpPr/>
          <p:nvPr/>
        </p:nvSpPr>
        <p:spPr>
          <a:xfrm>
            <a:off x="6309360" y="3981600"/>
            <a:ext cx="599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앙상블</a:t>
            </a:r>
            <a:endParaRPr b="0" sz="8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e69c578ed5_0_673"/>
          <p:cNvSpPr/>
          <p:nvPr/>
        </p:nvSpPr>
        <p:spPr>
          <a:xfrm>
            <a:off x="6950160" y="398160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0.74091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e69c578ed5_0_673"/>
          <p:cNvSpPr/>
          <p:nvPr/>
        </p:nvSpPr>
        <p:spPr>
          <a:xfrm>
            <a:off x="7949880" y="3981600"/>
            <a:ext cx="94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0.74223</a:t>
            </a:r>
            <a:endParaRPr b="0" sz="8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e69c578ed5_0_673"/>
          <p:cNvSpPr/>
          <p:nvPr/>
        </p:nvSpPr>
        <p:spPr>
          <a:xfrm>
            <a:off x="365760" y="4505405"/>
            <a:ext cx="8412000" cy="329700"/>
          </a:xfrm>
          <a:prstGeom prst="rect">
            <a:avLst/>
          </a:prstGeom>
          <a:solidFill>
            <a:srgbClr val="E8F5E9"/>
          </a:solidFill>
          <a:ln cap="flat" cmpd="sng" w="19075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e69c578ed5_0_673"/>
          <p:cNvSpPr/>
          <p:nvPr/>
        </p:nvSpPr>
        <p:spPr>
          <a:xfrm>
            <a:off x="453295" y="4550405"/>
            <a:ext cx="79995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핵심: </a:t>
            </a:r>
            <a:r>
              <a:rPr b="0" lang="en-US" sz="850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피처 엔지니어링보다 앙상블 다양성 + 검증 구조가 AUC 향상에 더 효과적 — 모델별 피처셋 분리 + 멀티 시드가 결정적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1"/>
          <p:cNvSpPr/>
          <p:nvPr/>
        </p:nvSpPr>
        <p:spPr>
          <a:xfrm>
            <a:off x="-274320" y="54864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2011680" y="822960"/>
            <a:ext cx="512064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1"/>
          <p:cNvSpPr/>
          <p:nvPr/>
        </p:nvSpPr>
        <p:spPr>
          <a:xfrm>
            <a:off x="2011680" y="822960"/>
            <a:ext cx="91440" cy="32004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1"/>
          <p:cNvSpPr/>
          <p:nvPr/>
        </p:nvSpPr>
        <p:spPr>
          <a:xfrm>
            <a:off x="2834640" y="1188720"/>
            <a:ext cx="914400" cy="914400"/>
          </a:xfrm>
          <a:prstGeom prst="ellipse">
            <a:avLst/>
          </a:prstGeom>
          <a:solidFill>
            <a:srgbClr val="E0F5F3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9" name="Google Shape;7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232" y="13533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1"/>
          <p:cNvSpPr/>
          <p:nvPr/>
        </p:nvSpPr>
        <p:spPr>
          <a:xfrm>
            <a:off x="393192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S E C T I O N  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1"/>
          <p:cNvSpPr/>
          <p:nvPr/>
        </p:nvSpPr>
        <p:spPr>
          <a:xfrm>
            <a:off x="3931920" y="1572768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평가 지표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1"/>
          <p:cNvSpPr/>
          <p:nvPr/>
        </p:nvSpPr>
        <p:spPr>
          <a:xfrm>
            <a:off x="3931920" y="2331720"/>
            <a:ext cx="914400" cy="4572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1"/>
          <p:cNvSpPr/>
          <p:nvPr/>
        </p:nvSpPr>
        <p:spPr>
          <a:xfrm>
            <a:off x="3931920" y="24871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BB5BC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1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2"/>
          <p:cNvSpPr/>
          <p:nvPr/>
        </p:nvSpPr>
        <p:spPr>
          <a:xfrm>
            <a:off x="0" y="73152"/>
            <a:ext cx="9144000" cy="713232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2"/>
          <p:cNvSpPr/>
          <p:nvPr/>
        </p:nvSpPr>
        <p:spPr>
          <a:xfrm>
            <a:off x="365760" y="118872"/>
            <a:ext cx="64008" cy="62179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2"/>
          <p:cNvSpPr/>
          <p:nvPr/>
        </p:nvSpPr>
        <p:spPr>
          <a:xfrm>
            <a:off x="566928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평가지표 계산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2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2"/>
          <p:cNvSpPr/>
          <p:nvPr/>
        </p:nvSpPr>
        <p:spPr>
          <a:xfrm>
            <a:off x="365760" y="987552"/>
            <a:ext cx="8412480" cy="3822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2"/>
          <p:cNvSpPr/>
          <p:nvPr/>
        </p:nvSpPr>
        <p:spPr>
          <a:xfrm>
            <a:off x="0" y="73152"/>
            <a:ext cx="9144000" cy="7131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2"/>
          <p:cNvSpPr/>
          <p:nvPr/>
        </p:nvSpPr>
        <p:spPr>
          <a:xfrm>
            <a:off x="365760" y="118872"/>
            <a:ext cx="63900" cy="62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2"/>
          <p:cNvSpPr/>
          <p:nvPr/>
        </p:nvSpPr>
        <p:spPr>
          <a:xfrm>
            <a:off x="566928" y="164592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평가 지표 계산 — ROC-AUC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365760" y="1005840"/>
            <a:ext cx="8412600" cy="1188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2"/>
          <p:cNvSpPr/>
          <p:nvPr/>
        </p:nvSpPr>
        <p:spPr>
          <a:xfrm>
            <a:off x="7498080" y="640080"/>
            <a:ext cx="1828800" cy="1828800"/>
          </a:xfrm>
          <a:prstGeom prst="ellipse">
            <a:avLst/>
          </a:prstGeom>
          <a:solidFill>
            <a:srgbClr val="FFFFFF">
              <a:alpha val="121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2"/>
          <p:cNvSpPr/>
          <p:nvPr/>
        </p:nvSpPr>
        <p:spPr>
          <a:xfrm>
            <a:off x="594360" y="107899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최종 제출 결과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2"/>
          <p:cNvSpPr/>
          <p:nvPr/>
        </p:nvSpPr>
        <p:spPr>
          <a:xfrm>
            <a:off x="594360" y="1335024"/>
            <a:ext cx="6400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ROC-AUC  0.74223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4754880" y="135331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EXP-040 | 30모델 Rank Average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4754880" y="160934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OOF AUC: 0.74091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2"/>
          <p:cNvSpPr/>
          <p:nvPr/>
        </p:nvSpPr>
        <p:spPr>
          <a:xfrm>
            <a:off x="365760" y="2359152"/>
            <a:ext cx="1920300" cy="10059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2"/>
          <p:cNvSpPr/>
          <p:nvPr/>
        </p:nvSpPr>
        <p:spPr>
          <a:xfrm>
            <a:off x="365760" y="2359152"/>
            <a:ext cx="1920300" cy="54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2"/>
          <p:cNvSpPr/>
          <p:nvPr/>
        </p:nvSpPr>
        <p:spPr>
          <a:xfrm>
            <a:off x="475488" y="2450592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OOF AUC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2"/>
          <p:cNvSpPr/>
          <p:nvPr/>
        </p:nvSpPr>
        <p:spPr>
          <a:xfrm>
            <a:off x="475488" y="2670048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0.74091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475488" y="3054096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교차검증 평균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2487168" y="2359152"/>
            <a:ext cx="1920300" cy="10059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2"/>
          <p:cNvSpPr/>
          <p:nvPr/>
        </p:nvSpPr>
        <p:spPr>
          <a:xfrm>
            <a:off x="2487168" y="2359152"/>
            <a:ext cx="1920300" cy="549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2"/>
          <p:cNvSpPr/>
          <p:nvPr/>
        </p:nvSpPr>
        <p:spPr>
          <a:xfrm>
            <a:off x="2596896" y="2450592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리더보드 AUC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2596896" y="2670048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0.74223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2596896" y="3054096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최종 제출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4608576" y="2359152"/>
            <a:ext cx="1920300" cy="10059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2"/>
          <p:cNvSpPr/>
          <p:nvPr/>
        </p:nvSpPr>
        <p:spPr>
          <a:xfrm>
            <a:off x="4608576" y="2359152"/>
            <a:ext cx="19203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2"/>
          <p:cNvSpPr/>
          <p:nvPr/>
        </p:nvSpPr>
        <p:spPr>
          <a:xfrm>
            <a:off x="4718304" y="2450592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OOF↔LB 갭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4718304" y="2670048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+0.00132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2"/>
          <p:cNvSpPr/>
          <p:nvPr/>
        </p:nvSpPr>
        <p:spPr>
          <a:xfrm>
            <a:off x="4718304" y="3054096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일관된 개선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2"/>
          <p:cNvSpPr/>
          <p:nvPr/>
        </p:nvSpPr>
        <p:spPr>
          <a:xfrm>
            <a:off x="6729984" y="2359152"/>
            <a:ext cx="1920300" cy="10059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2"/>
          <p:cNvSpPr/>
          <p:nvPr/>
        </p:nvSpPr>
        <p:spPr>
          <a:xfrm>
            <a:off x="6729984" y="2359152"/>
            <a:ext cx="1920300" cy="549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2"/>
          <p:cNvSpPr/>
          <p:nvPr/>
        </p:nvSpPr>
        <p:spPr>
          <a:xfrm>
            <a:off x="6839712" y="2450592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앙상블 모델수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2"/>
          <p:cNvSpPr/>
          <p:nvPr/>
        </p:nvSpPr>
        <p:spPr>
          <a:xfrm>
            <a:off x="6839712" y="2670048"/>
            <a:ext cx="170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6839712" y="3054096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10seeds×3models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2"/>
          <p:cNvSpPr/>
          <p:nvPr/>
        </p:nvSpPr>
        <p:spPr>
          <a:xfrm>
            <a:off x="365760" y="3493008"/>
            <a:ext cx="8412600" cy="1371600"/>
          </a:xfrm>
          <a:prstGeom prst="rect">
            <a:avLst/>
          </a:prstGeom>
          <a:solidFill>
            <a:srgbClr val="F7FAFB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2"/>
          <p:cNvSpPr/>
          <p:nvPr/>
        </p:nvSpPr>
        <p:spPr>
          <a:xfrm>
            <a:off x="502920" y="35661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핵심 인사이트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2"/>
          <p:cNvSpPr/>
          <p:nvPr/>
        </p:nvSpPr>
        <p:spPr>
          <a:xfrm>
            <a:off x="502920" y="3968496"/>
            <a:ext cx="128100" cy="1281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2"/>
          <p:cNvSpPr/>
          <p:nvPr/>
        </p:nvSpPr>
        <p:spPr>
          <a:xfrm>
            <a:off x="704088" y="391363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피처 다양성 (LGB: FE-v1 / CAT: FE-v2+TE / XGB: FE-v2+TE+ITE) 이 단일 모델 튜닝보다 효과적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2"/>
          <p:cNvSpPr/>
          <p:nvPr/>
        </p:nvSpPr>
        <p:spPr>
          <a:xfrm>
            <a:off x="502920" y="4389120"/>
            <a:ext cx="128100" cy="1281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2"/>
          <p:cNvSpPr/>
          <p:nvPr/>
        </p:nvSpPr>
        <p:spPr>
          <a:xfrm>
            <a:off x="704088" y="4334256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Multi-seed 앙상블: 1→5 seeds +0.00019 OOF 개선, 5→10 seeds +0.00001 (수확 체감)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2"/>
          <p:cNvSpPr/>
          <p:nvPr/>
        </p:nvSpPr>
        <p:spPr>
          <a:xfrm>
            <a:off x="4709160" y="3968496"/>
            <a:ext cx="128100" cy="1281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2"/>
          <p:cNvSpPr/>
          <p:nvPr/>
        </p:nvSpPr>
        <p:spPr>
          <a:xfrm>
            <a:off x="4910328" y="391363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Target Encoding: fold 내부 계산으로 Data Leakage 원천 차단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2"/>
          <p:cNvSpPr/>
          <p:nvPr/>
        </p:nvSpPr>
        <p:spPr>
          <a:xfrm>
            <a:off x="4709160" y="4389120"/>
            <a:ext cx="128100" cy="1281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2"/>
          <p:cNvSpPr/>
          <p:nvPr/>
        </p:nvSpPr>
        <p:spPr>
          <a:xfrm>
            <a:off x="4910328" y="4334256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Rank Average: 단조 변환에 AUC 불변 → 정규화 불필요, 간단하고 강건한 앙상블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e69c578ed5_0_54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3e69c578ed5_0_541"/>
          <p:cNvSpPr/>
          <p:nvPr/>
        </p:nvSpPr>
        <p:spPr>
          <a:xfrm>
            <a:off x="0" y="73152"/>
            <a:ext cx="9144000" cy="7131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e69c578ed5_0_541"/>
          <p:cNvSpPr/>
          <p:nvPr/>
        </p:nvSpPr>
        <p:spPr>
          <a:xfrm>
            <a:off x="365760" y="118872"/>
            <a:ext cx="63900" cy="621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e69c578ed5_0_541"/>
          <p:cNvSpPr/>
          <p:nvPr/>
        </p:nvSpPr>
        <p:spPr>
          <a:xfrm>
            <a:off x="566928" y="164592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이번 해커톤에서 배운 것들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e69c578ed5_0_541"/>
          <p:cNvSpPr/>
          <p:nvPr/>
        </p:nvSpPr>
        <p:spPr>
          <a:xfrm>
            <a:off x="320040" y="987552"/>
            <a:ext cx="4206300" cy="1719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e69c578ed5_0_541"/>
          <p:cNvSpPr/>
          <p:nvPr/>
        </p:nvSpPr>
        <p:spPr>
          <a:xfrm>
            <a:off x="320040" y="987552"/>
            <a:ext cx="73200" cy="17190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3e69c578ed5_0_541"/>
          <p:cNvSpPr/>
          <p:nvPr/>
        </p:nvSpPr>
        <p:spPr>
          <a:xfrm>
            <a:off x="484632" y="1115568"/>
            <a:ext cx="347400" cy="34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e69c578ed5_0_541"/>
          <p:cNvSpPr/>
          <p:nvPr/>
        </p:nvSpPr>
        <p:spPr>
          <a:xfrm>
            <a:off x="484632" y="111556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e69c578ed5_0_541"/>
          <p:cNvSpPr/>
          <p:nvPr/>
        </p:nvSpPr>
        <p:spPr>
          <a:xfrm>
            <a:off x="960120" y="1133856"/>
            <a:ext cx="342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피처 다양성이 핵심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e69c578ed5_0_541"/>
          <p:cNvSpPr/>
          <p:nvPr/>
        </p:nvSpPr>
        <p:spPr>
          <a:xfrm>
            <a:off x="960120" y="1463040"/>
            <a:ext cx="3429000" cy="18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g3e69c578ed5_0_541"/>
          <p:cNvSpPr/>
          <p:nvPr/>
        </p:nvSpPr>
        <p:spPr>
          <a:xfrm>
            <a:off x="960120" y="1536192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LGB·CAT·XGB에 서로 다른 피처셋. 단일 모델 튜닝보다 피처 다양성이 더 효과적이었다. (FE-v1 / FE-v2+TE / FE-v2+TE+ITE)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3e69c578ed5_0_541"/>
          <p:cNvSpPr/>
          <p:nvPr/>
        </p:nvSpPr>
        <p:spPr>
          <a:xfrm>
            <a:off x="320040" y="2907792"/>
            <a:ext cx="4206300" cy="1719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e69c578ed5_0_541"/>
          <p:cNvSpPr/>
          <p:nvPr/>
        </p:nvSpPr>
        <p:spPr>
          <a:xfrm>
            <a:off x="320040" y="2907792"/>
            <a:ext cx="73200" cy="17190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3e69c578ed5_0_541"/>
          <p:cNvSpPr/>
          <p:nvPr/>
        </p:nvSpPr>
        <p:spPr>
          <a:xfrm>
            <a:off x="484632" y="3035808"/>
            <a:ext cx="347400" cy="34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g3e69c578ed5_0_541"/>
          <p:cNvSpPr/>
          <p:nvPr/>
        </p:nvSpPr>
        <p:spPr>
          <a:xfrm>
            <a:off x="484632" y="303580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g3e69c578ed5_0_541"/>
          <p:cNvSpPr/>
          <p:nvPr/>
        </p:nvSpPr>
        <p:spPr>
          <a:xfrm>
            <a:off x="960120" y="3054096"/>
            <a:ext cx="342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Data Leakage는 항상 조심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g3e69c578ed5_0_541"/>
          <p:cNvSpPr/>
          <p:nvPr/>
        </p:nvSpPr>
        <p:spPr>
          <a:xfrm>
            <a:off x="960120" y="3383280"/>
            <a:ext cx="3429000" cy="183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3e69c578ed5_0_541"/>
          <p:cNvSpPr/>
          <p:nvPr/>
        </p:nvSpPr>
        <p:spPr>
          <a:xfrm>
            <a:off x="960120" y="3456432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TE를 fold 밖에서 계산하면 성능이 부풀려 보인다. 반드시 fold 내부에서만 계산해야 실제 점수도 올라간다.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3e69c578ed5_0_541"/>
          <p:cNvSpPr/>
          <p:nvPr/>
        </p:nvSpPr>
        <p:spPr>
          <a:xfrm>
            <a:off x="4709160" y="987552"/>
            <a:ext cx="4206300" cy="1719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e69c578ed5_0_541"/>
          <p:cNvSpPr/>
          <p:nvPr/>
        </p:nvSpPr>
        <p:spPr>
          <a:xfrm>
            <a:off x="4709160" y="987552"/>
            <a:ext cx="73200" cy="17190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g3e69c578ed5_0_541"/>
          <p:cNvSpPr/>
          <p:nvPr/>
        </p:nvSpPr>
        <p:spPr>
          <a:xfrm>
            <a:off x="4873752" y="1115568"/>
            <a:ext cx="347400" cy="34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e69c578ed5_0_541"/>
          <p:cNvSpPr/>
          <p:nvPr/>
        </p:nvSpPr>
        <p:spPr>
          <a:xfrm>
            <a:off x="4873752" y="111556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g3e69c578ed5_0_541"/>
          <p:cNvSpPr/>
          <p:nvPr/>
        </p:nvSpPr>
        <p:spPr>
          <a:xfrm>
            <a:off x="5349240" y="1133856"/>
            <a:ext cx="342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결측값 자체가 정보다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e69c578ed5_0_541"/>
          <p:cNvSpPr/>
          <p:nvPr/>
        </p:nvSpPr>
        <p:spPr>
          <a:xfrm>
            <a:off x="5349240" y="1463040"/>
            <a:ext cx="3429000" cy="183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e69c578ed5_0_541"/>
          <p:cNvSpPr/>
          <p:nvPr/>
        </p:nvSpPr>
        <p:spPr>
          <a:xfrm>
            <a:off x="5349240" y="1536192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670"/>
                </a:solidFill>
              </a:rPr>
              <a:t>DI 시술 경과일 100% 결측 = 구조적 부재. 결측 패턴별 성공률이 2%~39%로 극단적 차이. </a:t>
            </a:r>
            <a:r>
              <a:rPr lang="en-US" sz="950">
                <a:solidFill>
                  <a:srgbClr val="4A6670"/>
                </a:solidFill>
                <a:latin typeface="Roboto Mono"/>
                <a:ea typeface="Roboto Mono"/>
                <a:cs typeface="Roboto Mono"/>
                <a:sym typeface="Roboto Mono"/>
              </a:rPr>
              <a:t>신선_시술_여부</a:t>
            </a:r>
            <a:r>
              <a:rPr lang="en-US" sz="950">
                <a:solidFill>
                  <a:srgbClr val="4A6670"/>
                </a:solidFill>
              </a:rPr>
              <a:t>, </a:t>
            </a:r>
            <a:r>
              <a:rPr lang="en-US" sz="950">
                <a:solidFill>
                  <a:srgbClr val="4A6670"/>
                </a:solidFill>
                <a:latin typeface="Roboto Mono"/>
                <a:ea typeface="Roboto Mono"/>
                <a:cs typeface="Roboto Mono"/>
                <a:sym typeface="Roboto Mono"/>
              </a:rPr>
              <a:t>임신시도기록_있음</a:t>
            </a:r>
            <a:r>
              <a:rPr lang="en-US" sz="950">
                <a:solidFill>
                  <a:srgbClr val="4A6670"/>
                </a:solidFill>
              </a:rPr>
              <a:t> 등 결측 여부를 이진 플래그로 변환해 핵심 피처로 활용했다</a:t>
            </a:r>
            <a:endParaRPr b="0" i="0" sz="950" u="none" cap="none" strike="noStrike">
              <a:solidFill>
                <a:srgbClr val="4A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g3e69c578ed5_0_541"/>
          <p:cNvSpPr/>
          <p:nvPr/>
        </p:nvSpPr>
        <p:spPr>
          <a:xfrm>
            <a:off x="4709160" y="2907792"/>
            <a:ext cx="4206300" cy="1719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g3e69c578ed5_0_541"/>
          <p:cNvSpPr/>
          <p:nvPr/>
        </p:nvSpPr>
        <p:spPr>
          <a:xfrm>
            <a:off x="4709160" y="2907792"/>
            <a:ext cx="73200" cy="17190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e69c578ed5_0_541"/>
          <p:cNvSpPr/>
          <p:nvPr/>
        </p:nvSpPr>
        <p:spPr>
          <a:xfrm>
            <a:off x="4873752" y="3035808"/>
            <a:ext cx="347400" cy="34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e69c578ed5_0_541"/>
          <p:cNvSpPr/>
          <p:nvPr/>
        </p:nvSpPr>
        <p:spPr>
          <a:xfrm>
            <a:off x="4873752" y="303580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e69c578ed5_0_541"/>
          <p:cNvSpPr/>
          <p:nvPr/>
        </p:nvSpPr>
        <p:spPr>
          <a:xfrm>
            <a:off x="5349240" y="3054096"/>
            <a:ext cx="342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앙상블의 수확 체감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g3e69c578ed5_0_541"/>
          <p:cNvSpPr/>
          <p:nvPr/>
        </p:nvSpPr>
        <p:spPr>
          <a:xfrm>
            <a:off x="5349240" y="3383280"/>
            <a:ext cx="3429000" cy="183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e69c578ed5_0_541"/>
          <p:cNvSpPr/>
          <p:nvPr/>
        </p:nvSpPr>
        <p:spPr>
          <a:xfrm>
            <a:off x="5349240" y="3456432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1→5 seeds: +0.00019 개선, 5→10 seeds: +0.00001 (수확 체감). 무작정 늘리는 것보다 피처 다양성이 더 중요하다.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e69c578ed5_0_541"/>
          <p:cNvSpPr/>
          <p:nvPr/>
        </p:nvSpPr>
        <p:spPr>
          <a:xfrm>
            <a:off x="0" y="5029200"/>
            <a:ext cx="9144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e69c578ed5_0_461"/>
          <p:cNvSpPr/>
          <p:nvPr/>
        </p:nvSpPr>
        <p:spPr>
          <a:xfrm>
            <a:off x="0" y="0"/>
            <a:ext cx="9144000" cy="1920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e69c578ed5_0_46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FFFFF">
              <a:alpha val="121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e69c578ed5_0_461"/>
          <p:cNvSpPr/>
          <p:nvPr/>
        </p:nvSpPr>
        <p:spPr>
          <a:xfrm>
            <a:off x="-457200" y="457200"/>
            <a:ext cx="1828800" cy="1828800"/>
          </a:xfrm>
          <a:prstGeom prst="ellipse">
            <a:avLst/>
          </a:prstGeom>
          <a:solidFill>
            <a:srgbClr val="FFFFFF">
              <a:alpha val="1216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e69c578ed5_0_461"/>
          <p:cNvSpPr/>
          <p:nvPr/>
        </p:nvSpPr>
        <p:spPr>
          <a:xfrm>
            <a:off x="457200" y="34747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11  ·  소감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g3e69c578ed5_0_461"/>
          <p:cNvSpPr/>
          <p:nvPr/>
        </p:nvSpPr>
        <p:spPr>
          <a:xfrm>
            <a:off x="457200" y="7315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함께해서 즐거웠습니다 :)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e69c578ed5_0_461"/>
          <p:cNvSpPr/>
          <p:nvPr/>
        </p:nvSpPr>
        <p:spPr>
          <a:xfrm>
            <a:off x="365760" y="2084832"/>
            <a:ext cx="2578500" cy="549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g3e69c578ed5_0_461"/>
          <p:cNvSpPr/>
          <p:nvPr/>
        </p:nvSpPr>
        <p:spPr>
          <a:xfrm>
            <a:off x="365735" y="2103157"/>
            <a:ext cx="2578500" cy="27432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e69c578ed5_0_461"/>
          <p:cNvSpPr/>
          <p:nvPr/>
        </p:nvSpPr>
        <p:spPr>
          <a:xfrm>
            <a:off x="457200" y="3145536"/>
            <a:ext cx="239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설윤재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e69c578ed5_0_461"/>
          <p:cNvSpPr/>
          <p:nvPr/>
        </p:nvSpPr>
        <p:spPr>
          <a:xfrm>
            <a:off x="1188720" y="3493008"/>
            <a:ext cx="932700" cy="2376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e69c578ed5_0_461"/>
          <p:cNvSpPr/>
          <p:nvPr/>
        </p:nvSpPr>
        <p:spPr>
          <a:xfrm>
            <a:off x="1188720" y="3493008"/>
            <a:ext cx="9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팀장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e69c578ed5_0_461"/>
          <p:cNvSpPr/>
          <p:nvPr/>
        </p:nvSpPr>
        <p:spPr>
          <a:xfrm>
            <a:off x="502920" y="3822192"/>
            <a:ext cx="23043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g3e69c578ed5_0_461"/>
          <p:cNvSpPr/>
          <p:nvPr/>
        </p:nvSpPr>
        <p:spPr>
          <a:xfrm>
            <a:off x="502920" y="3822192"/>
            <a:ext cx="2304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일주일 이란 짧은 기간동안 고생해주신 조원분들께 너무 감사드립니다. 팀 협업 방식부터, 결측값 피처 활용하는 시각과 멀티 시드 앙상블까지 직접 경험 할 수 있는 소중한 시간이었습니다. 좋은 조원분들 덕에 즐겁게 마무리 할 수 있어서 감사합니다.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e69c578ed5_0_461"/>
          <p:cNvSpPr/>
          <p:nvPr/>
        </p:nvSpPr>
        <p:spPr>
          <a:xfrm>
            <a:off x="3182112" y="2084832"/>
            <a:ext cx="2578500" cy="27432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e69c578ed5_0_461"/>
          <p:cNvSpPr/>
          <p:nvPr/>
        </p:nvSpPr>
        <p:spPr>
          <a:xfrm>
            <a:off x="3182112" y="2084832"/>
            <a:ext cx="25785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e69c578ed5_0_461"/>
          <p:cNvSpPr/>
          <p:nvPr/>
        </p:nvSpPr>
        <p:spPr>
          <a:xfrm>
            <a:off x="4059936" y="2212848"/>
            <a:ext cx="822900" cy="8229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dk1"/>
                </a:solidFill>
              </a:rPr>
              <a:t>☺️</a:t>
            </a:r>
            <a:endParaRPr/>
          </a:p>
        </p:txBody>
      </p:sp>
      <p:sp>
        <p:nvSpPr>
          <p:cNvPr id="825" name="Google Shape;825;g3e69c578ed5_0_461"/>
          <p:cNvSpPr/>
          <p:nvPr/>
        </p:nvSpPr>
        <p:spPr>
          <a:xfrm>
            <a:off x="3273552" y="3145536"/>
            <a:ext cx="239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윤지현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g3e69c578ed5_0_461"/>
          <p:cNvSpPr/>
          <p:nvPr/>
        </p:nvSpPr>
        <p:spPr>
          <a:xfrm>
            <a:off x="4005072" y="3493008"/>
            <a:ext cx="932700" cy="237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e69c578ed5_0_461"/>
          <p:cNvSpPr/>
          <p:nvPr/>
        </p:nvSpPr>
        <p:spPr>
          <a:xfrm>
            <a:off x="4005072" y="3493008"/>
            <a:ext cx="9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g3e69c578ed5_0_461"/>
          <p:cNvSpPr/>
          <p:nvPr/>
        </p:nvSpPr>
        <p:spPr>
          <a:xfrm>
            <a:off x="3319272" y="3822192"/>
            <a:ext cx="23043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e69c578ed5_0_461"/>
          <p:cNvSpPr/>
          <p:nvPr/>
        </p:nvSpPr>
        <p:spPr>
          <a:xfrm>
            <a:off x="3319272" y="3822192"/>
            <a:ext cx="2304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짧고도 긴 해커톤 기간 쉬는 시간도 잊고 열중하신 팀원분들께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존경의 박수를 보냅니다. 초반 설정 타임라인 계획 준수, 팀원별 전략 설정 및  공유, 깃헙 관리, MLflow, 실험 기록장 정리, 중간 확인 및 전략 수정, 의사소통, 마무리 과정 등 원활하게 되어 좋았습니다. 점수도 상위권이고 여러모로 훌륭한 팀원과 팀장님을 만나서 운이 좋았다는 말 밖에 드릴 게 없네요 !!</a:t>
            </a:r>
            <a:endParaRPr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3e69c578ed5_0_461"/>
          <p:cNvSpPr/>
          <p:nvPr/>
        </p:nvSpPr>
        <p:spPr>
          <a:xfrm>
            <a:off x="5998464" y="2084832"/>
            <a:ext cx="2578500" cy="2743200"/>
          </a:xfrm>
          <a:prstGeom prst="rect">
            <a:avLst/>
          </a:prstGeom>
          <a:solidFill>
            <a:srgbClr val="F7FAFB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3e69c578ed5_0_461"/>
          <p:cNvSpPr/>
          <p:nvPr/>
        </p:nvSpPr>
        <p:spPr>
          <a:xfrm>
            <a:off x="5998464" y="2084832"/>
            <a:ext cx="2578500" cy="549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e69c578ed5_0_461"/>
          <p:cNvSpPr/>
          <p:nvPr/>
        </p:nvSpPr>
        <p:spPr>
          <a:xfrm>
            <a:off x="6876288" y="2212848"/>
            <a:ext cx="822900" cy="8229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😊</a:t>
            </a:r>
            <a:endParaRPr sz="3100"/>
          </a:p>
        </p:txBody>
      </p:sp>
      <p:sp>
        <p:nvSpPr>
          <p:cNvPr id="833" name="Google Shape;833;g3e69c578ed5_0_461"/>
          <p:cNvSpPr/>
          <p:nvPr/>
        </p:nvSpPr>
        <p:spPr>
          <a:xfrm>
            <a:off x="6089904" y="3145536"/>
            <a:ext cx="239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조여진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3e69c578ed5_0_461"/>
          <p:cNvSpPr/>
          <p:nvPr/>
        </p:nvSpPr>
        <p:spPr>
          <a:xfrm>
            <a:off x="6821424" y="3493008"/>
            <a:ext cx="932700" cy="2376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e69c578ed5_0_461"/>
          <p:cNvSpPr/>
          <p:nvPr/>
        </p:nvSpPr>
        <p:spPr>
          <a:xfrm>
            <a:off x="6821424" y="3493008"/>
            <a:ext cx="9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팀원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g3e69c578ed5_0_461"/>
          <p:cNvSpPr/>
          <p:nvPr/>
        </p:nvSpPr>
        <p:spPr>
          <a:xfrm>
            <a:off x="6135624" y="3822192"/>
            <a:ext cx="23043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e69c578ed5_0_461"/>
          <p:cNvSpPr/>
          <p:nvPr/>
        </p:nvSpPr>
        <p:spPr>
          <a:xfrm>
            <a:off x="6135624" y="3822192"/>
            <a:ext cx="2304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B5BC"/>
              </a:buClr>
              <a:buSzPts val="900"/>
              <a:buFont typeface="Calibri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일주일이 길다고 생각했는데, 하다보니 짧게 느껴지고 아쉬움이 남았습니다.좋은 분들을 팀원으로 만나서 많이 배우는 기회가 되었고, 팀원분들이 항상 열심히 해주셔서 덩달아 의욕이 많이 생겼던것같습니다. 고생하셨습니다!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g3e69c578ed5_0_46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e69c578ed5_0_461"/>
          <p:cNvSpPr/>
          <p:nvPr/>
        </p:nvSpPr>
        <p:spPr>
          <a:xfrm>
            <a:off x="0" y="5029200"/>
            <a:ext cx="9144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3e69c578ed5_0_461"/>
          <p:cNvSpPr/>
          <p:nvPr/>
        </p:nvSpPr>
        <p:spPr>
          <a:xfrm>
            <a:off x="1298536" y="2185523"/>
            <a:ext cx="822900" cy="82290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</a:rPr>
              <a:t>😘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2026-04-29T04:26:16Z</dcterms:created>
  <dc:creator>PptxGenJS</dc:creator>
</cp:coreProperties>
</file>